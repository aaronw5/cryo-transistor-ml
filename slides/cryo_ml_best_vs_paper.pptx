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373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02428"/>
                </a:solidFill>
              </a:rPr>
              <a:t>SKY130 77 K: card refit with the bias-only correction g v2, compared with the published 77 K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10515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>
                <a:solidFill>
                  <a:srgbClr val="202428"/>
                </a:solidFill>
              </a:rPr>
              <a:t>Published 77 K card: all-device RRMS 0.2751, combined 0.2595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202428"/>
                </a:solidFill>
              </a:rPr>
              <a:t>Method (starting card, held-out refit with g v2, LODO): all-device RRMS 0.0739, combined 0.0700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202428"/>
                </a:solidFill>
              </a:rPr>
              <a:t>18 measured devices (8 nMOS, 10 pMOS); ngspice-41; BSIM4 state C; all rows DEV, method draft not frozen; 2026-10-27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A6066"/>
                </a:solidFill>
              </a:rPr>
              <a:t>RRMS: relative RMS current error of the paper (slide 2). Combined: mean of the nMOS and pMOS family means. LODO: leave-one-device-out. State C: BSIM4 A2 clamp written into the card (slide 2). g v2: learned bias-dependent current correction (slide 5). C0_refit: card refit without g (slide 4).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Data and metric: 18 devices, 11 curves each, strict paper RRMS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502920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51560"/>
                <a:gridCol w="1463040"/>
                <a:gridCol w="105156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nMOS L x W (um)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scored curves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pMOS L x W (um)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scored curves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0.15 x 1.6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0.35 x 0.55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0.19 x 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0.35 x 1.6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0.25 x 1.6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0.35 x 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100 x 100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0.5 x 0.42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 x 1.6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0.5 x 0.64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 x 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 x 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20 x 0.64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 x 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 x 1.6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 x 0.84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 x 1.6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 x 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0" y="91440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Devices: SkyWater SKY130 nfet_01v8_lvt and pfet_01v8_lvt, measured at 77 K (data of the paper).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Curves per device: Id-Vg at |Vds| = 0.01, 0.37, 0.74, 1.11, 1.48, 1.85 V; Id-Vd at |Vgs| = 0.37, 0.74, 1.11, 1.48, 1.85 V.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Scored curves: frozen to the published card's inclusion set (9-11 per device); 25,086 scored points in total.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All-device RRMS: mean over the 18 devices. Combined RRMS: (nMOS mean + pMOS mean) / 2.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Published card: all-device 0.2751, combined 0.2595 (nMOS 0.1198, pMOS 0.3992).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Simulator: ngspice-41, arm64 build. State C: a2 &gt; 1 written as a2 = 1, a1 = 0; a2 &lt; 0.01 as 0.01 (ngspice-41 clamps A2 only in the first analysis per model).</a:t>
            </a:r>
          </a:p>
        </p:txBody>
      </p:sp>
      <p:pic>
        <p:nvPicPr>
          <p:cNvPr id="5" name="Picture 4" descr="eq_r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43400"/>
            <a:ext cx="5812155" cy="552069"/>
          </a:xfrm>
          <a:prstGeom prst="rect">
            <a:avLst/>
          </a:prstGeom>
        </p:spPr>
      </p:pic>
      <p:pic>
        <p:nvPicPr>
          <p:cNvPr id="6" name="Picture 5" descr="eq_d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20640"/>
            <a:ext cx="7423785" cy="466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94360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n_c: points of curve c after the trim (points below the device current floor at the start of the sweep removed); den_c: mean |I_meas| of those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Pipeline: published card to deployed element (one LODO fold 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97280"/>
            <a:ext cx="2697480" cy="1417320"/>
          </a:xfrm>
          <a:prstGeom prst="roundRect">
            <a:avLst/>
          </a:prstGeom>
          <a:solidFill>
            <a:srgbClr val="ECECEC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428"/>
                </a:solidFill>
              </a:rPr>
              <a:t>Published 77 K card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(paper)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RRMS 0.2751 / 0.2595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097280"/>
            <a:ext cx="2697480" cy="1737360"/>
          </a:xfrm>
          <a:prstGeom prst="roundRect">
            <a:avLst/>
          </a:prstGeom>
          <a:solidFill>
            <a:srgbClr val="F0F4F8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428"/>
                </a:solidFill>
              </a:rPr>
              <a:t>Starting card, device k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43 parameters, direct NGSpice fit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CMA-ES + TRF, 3 rounds + FD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44,219 calls / device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RRMS 0.1109 / 0.1049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868680"/>
            <a:ext cx="269748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428"/>
                </a:solidFill>
              </a:rPr>
              <a:t>C0_refit (control)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TRF refit of device k, g = 0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max_nfev 400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RRMS 0.1051 / 0.0984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606040"/>
            <a:ext cx="2697480" cy="1600200"/>
          </a:xfrm>
          <a:prstGeom prst="roundRect">
            <a:avLst/>
          </a:prstGeom>
          <a:solidFill>
            <a:srgbClr val="FCECE2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428"/>
                </a:solidFill>
              </a:rPr>
              <a:t>Method: refit with g v2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TRF refit of device k,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I_card x exp(g) in residuals, g frozen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RRMS 0.0739 / 0.0700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606040"/>
            <a:ext cx="2514600" cy="1600200"/>
          </a:xfrm>
          <a:prstGeom prst="roundRect">
            <a:avLst/>
          </a:prstGeom>
          <a:solidFill>
            <a:srgbClr val="FCECE2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428"/>
                </a:solidFill>
              </a:rPr>
              <a:t>Deployed element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card + channel replica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+ OSDI module (Verilog-A)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element deck RRMS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0.0739 / 0.0700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246120"/>
            <a:ext cx="2697480" cy="1417320"/>
          </a:xfrm>
          <a:prstGeom prst="roundRect">
            <a:avLst/>
          </a:prstGeom>
          <a:solidFill>
            <a:srgbClr val="FCECE2"/>
          </a:solidFill>
          <a:ln>
            <a:solidFill>
              <a:srgbClr val="78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428"/>
                </a:solidFill>
              </a:rPr>
              <a:t>g v2, fold k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trained on the starting-card records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of the 17 other devices;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penalty weight lambda by nested</a:t>
            </a:r>
          </a:p>
          <a:p>
            <a:pPr algn="ctr"/>
            <a:r>
              <a:rPr sz="1200" b="0">
                <a:solidFill>
                  <a:srgbClr val="202428"/>
                </a:solidFill>
              </a:rPr>
              <a:t>inner CV (slide 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1805940"/>
            <a:ext cx="265176" cy="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62472" y="1554480"/>
            <a:ext cx="310896" cy="4572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62472" y="2194560"/>
            <a:ext cx="310896" cy="82296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62472" y="3429000"/>
            <a:ext cx="310896" cy="52578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25712" y="3406140"/>
            <a:ext cx="265176" cy="0"/>
          </a:xfrm>
          <a:prstGeom prst="line">
            <a:avLst/>
          </a:prstGeom>
          <a:ln w="22225">
            <a:solidFill>
              <a:srgbClr val="5A6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4983480"/>
            <a:ext cx="11338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RRMS values: all-device / combined, held-out device k, 18 folds. Starting cards were fitted per device before the LODO folds (device k's own measured curves).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Starting-card calls: rounds 1-3 and FD polish (44,219, I22-1 cost.json); the 7-parameter stage that initializes round 1 adds 3,283 calls / device.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TRF: scipy least_squares(method='trf'), bounded local coordinates. FD: forward-difference Jacobian.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Starting cards and C0_refit: stages, budget, RRMS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15214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91640"/>
                <a:gridCol w="3566160"/>
                <a:gridCol w="150876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NGSpice calls / 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All-device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Published 77 K 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0.2751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0.2595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7 parameters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CMA-ES 3000 evals, then TRF max_nfev 400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3,283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0.1676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0.1575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 p., round 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CMA-ES 8000 evals, then TRF max_nfev 600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21,213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0.1201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0.1126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 p., round 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CMA-ES 8000 evals, then TRF max_nfev 600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14,287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0.1094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0.1024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 p., round 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CMA-ES 8000 evals, then TRF max_nfev 600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8,405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0.0981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round 3 + FD = starting 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TRF max_nfev 400, IRLS 2, diff_step 0.01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0.1109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C0_refit (held-out, LODO)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37-40 active of 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TRF max_nfev 400, IRLS 2, diff_step 0.01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315.7 (166-404)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0.0984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Method refit (g v2 in loop)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37-40 active of 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same as C0_refit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310.7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023360"/>
            <a:ext cx="11338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43 parameters (115 candidates, one-at-a-time sensitivity screen): vsat, ua, ub, rdsw, prwg, wr, u0, a0, a2, ags, b0, b1, pclm, pdiblc2, drout, delta, alpha0, beta0, toxe, toxm, xj, ndep, nsd, dwg, rsh, voff, nfactor, cit, cdscd, eta0, dsub, vth0, k1, k2, k3, dvt0, dvt1, dvt1w, w0, k3b, vfb, lpe0, lpeb.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Box: local coordinates u in [-1, 1]; parameters with value 0 or below the box activity test are held fixed, so 37-40 are active per device.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Starting-card stages are CMA-ES (sigma0 0.3, seed 20261015) then TRF on the NGSpice RRMS objective; the round-3 + FD card is the starting card of every later arm.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Correction g v2: inputs, network, loss</a:t>
            </a:r>
          </a:p>
        </p:txBody>
      </p:sp>
      <p:pic>
        <p:nvPicPr>
          <p:cNvPr id="3" name="Picture 2" descr="eq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4423410" cy="235457"/>
          </a:xfrm>
          <a:prstGeom prst="rect">
            <a:avLst/>
          </a:prstGeom>
        </p:spPr>
      </p:pic>
      <p:pic>
        <p:nvPicPr>
          <p:cNvPr id="4" name="Picture 3" descr="eq_e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13866"/>
            <a:ext cx="4807457" cy="235457"/>
          </a:xfrm>
          <a:prstGeom prst="rect">
            <a:avLst/>
          </a:prstGeom>
        </p:spPr>
      </p:pic>
      <p:pic>
        <p:nvPicPr>
          <p:cNvPr id="5" name="Picture 4" descr="eq_i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59051"/>
            <a:ext cx="6487668" cy="356616"/>
          </a:xfrm>
          <a:prstGeom prst="rect">
            <a:avLst/>
          </a:prstGeom>
        </p:spPr>
      </p:pic>
      <p:pic>
        <p:nvPicPr>
          <p:cNvPr id="6" name="Picture 5" descr="eq_i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025395"/>
            <a:ext cx="4684014" cy="400050"/>
          </a:xfrm>
          <a:prstGeom prst="rect">
            <a:avLst/>
          </a:prstGeom>
        </p:spPr>
      </p:pic>
      <p:pic>
        <p:nvPicPr>
          <p:cNvPr id="7" name="Picture 6" descr="eq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535174"/>
            <a:ext cx="6268212" cy="596646"/>
          </a:xfrm>
          <a:prstGeom prst="rect">
            <a:avLst/>
          </a:prstGeom>
        </p:spPr>
      </p:pic>
      <p:pic>
        <p:nvPicPr>
          <p:cNvPr id="8" name="Picture 7" descr="eq_l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41548"/>
            <a:ext cx="3913632" cy="569214"/>
          </a:xfrm>
          <a:prstGeom prst="rect">
            <a:avLst/>
          </a:prstGeom>
        </p:spPr>
      </p:pic>
      <p:pic>
        <p:nvPicPr>
          <p:cNvPr id="9" name="Picture 8" descr="eq_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920489"/>
            <a:ext cx="6576822" cy="438912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0" y="868680"/>
          <a:ext cx="46634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42900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I_ch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channel current of a replica of the card instance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EPS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 V (smooth |Vds|)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VDD (input scale)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1.85 V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s, a, b, m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polarity sign; s Vgs; s Vgd; smooth |Vds|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x1, x2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unchanged when drain and source are exchanged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h_j network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3-16-16-1, tanh, last layer zero-initialized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5 members, seeds 0-4; g = member mean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Adam, lr 3e-3, 2000 full-batch steps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training data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starting-card records of the 17 training devices (cards fixed)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 grid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25 mV, 75 x 75, 0-1.85 V, forward quadrant, I_card &gt; 1e-9 A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u_g, u_d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s Vgs, s Vds; gm, gds of the card by central differences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lambda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penalty weight (V); grid {0, 1, 2, 5, 10} V, slide 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D, W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number of training devices; weight matrices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mean hinge on negative gm / I and gds / I of I_card exp(g) (1/V)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Penalty weight lambda: nested inner cross-validation per fold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0378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05840"/>
                <a:gridCol w="1005840"/>
                <a:gridCol w="1005840"/>
                <a:gridCol w="1005840"/>
                <a:gridCol w="10058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lambda (V)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02428"/>
                          </a:solidFill>
                        </a:defRPr>
                      </a:pPr>
                      <a:r>
                        <a:t>selected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folds with lambda* = value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full-data inner score (mean ln RRMS)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-2.8607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-2.8915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-2.8829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-2.8608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-2.8739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lambda* 1 V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LODO all-device RRMS, fixed lambda (post hoc)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0.0736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0.0726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0.0734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0.0772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LODO combined RRMS, fixed lambda (post hoc)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0.0696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0.0692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0.0687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0.0696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5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06324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Per outer fold k: the 17 training devices are sorted (nMOS first, then tag) and split into 3 inner folds (device i -&gt; inner fold i mod 3).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Per inner fold and lambda: one member (seed 0) trained on the other 2 inner folds; inner held-out devices refit with g frozen (outer refit settings).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Inner score: mean ln RRMS over the inner held-out devices. lambda* = argmin; ties within 1e-12 go to the larger lambda. Device k is not used.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Full-data lambda* = 1 V: the same selection over all 18 devices; it defines the module of the deployment checks (slide 17), not the LODO rows.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Fixed-lambda rows are reported after the fact; they did not enter the selection.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Evaluation protocol: leave-one-device-out (LODO), 18 folds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377440"/>
                <a:gridCol w="56692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Uses data of held-out device k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428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Starting card of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direct NGSpice fit to k's measured curves, before the folds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g v2 training (fold k)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starting-card records of the 17 training devices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Input standardization, penalty grid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training devices only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lambda selection (fold k)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inner CV over the 17 training devices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Held-out refit of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k's measured curves, g frozen; max_nfev 400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Score of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fresh NGSpice run of the kept card x exp(g); frozen inclusion set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Full-data lambda* and module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deployment checks only (slide 17)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Dataset gate S3_D (apply g or not)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uses all DEV records incl. k (I19-1); sky130: apply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Method design (inputs, EPS, penalty, grid)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02428"/>
                          </a:solidFill>
                        </a:defRPr>
                      </a:pPr>
                      <a:r>
                        <a:t>chosen on these 18 devices since I3-2 (DEV)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920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Held-out device k contributes: its own starting card, its measured curves to its refit, and its score.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Held-out device k does not contribute: g, its input scaling, its penalty, or the lambda of fold k.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02428"/>
                </a:solidFill>
              </a:rPr>
              <a:t>The 6 former REAL_TEST sky130 devices were opened on 2026-10-21 by user decision; no locked sky130 TEST exists.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Results: all 18 devices, LODO, state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686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514600"/>
                <a:gridCol w="1143000"/>
                <a:gridCol w="1143000"/>
                <a:gridCol w="19202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Card / arm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Circuit element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All-device RRMS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Combined RRMS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GMR(g v2, row) [95% CI]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NGSpice calls / 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Published 77 K card (paper)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0.2751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0.2595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0.249 [0.205, 0.305]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Paper per-device cards, 7 parameters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0.2284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0.2135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0.332 [0.273, 0.406]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Paper per-device cards, 43 parameters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0.2038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0.1905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0.373 [0.307, 0.453]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Starting card (43 parameters)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0.1109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0.645 [0.536, 0.770]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44,219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C0_refit (refit, g = 0)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0.1051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0.0984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0.743 [0.654, 0.855]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+315.7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T1_inloop (refit, one gain per curve)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no: defined only at measured biases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0.0753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0.0713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0.957 [0.906, 1.006]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+321.5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M_bias v1 (refit, g v1)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no: not deployable (I15-1)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0.0735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0.0695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0.997 [0.962, 1.027]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+325.7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Selected g v2 (method), Python rows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deployable with restrictions (I17-1)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+310.7 (+27,880 selection, estimate)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Selected g v2, NGSpice element deck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same element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0.9997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as above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M_bias v1 has a lower RRMS than selected g v2 (0.0735 vs 0.0739; GMR(g v2, v1) 0.997 [0.962, 1.027]), but v1 is not deployable as a circuit element: Verilog-A g not d/s symmetric; terminal-exchange asymmetry &gt; 1e-3; Q2 derivative agreement; Q2 gm sign change in strong inversion (I15-1 core failures).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GMR(g v2, row): paired geometric-mean ratio of g v2 to the row over the 18 devices (slide 9); 95% percentile bootstrap CI, 10,000 resamples, seed 0. Below 1: g v2 has the lower RRMS.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Paper per-device cards: reference_scores.json paper_seven / paper_full43, scored with the same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Paired comparison: GMR of g v2 against the published card and controls</a:t>
            </a:r>
          </a:p>
        </p:txBody>
      </p:sp>
      <p:pic>
        <p:nvPicPr>
          <p:cNvPr id="3" name="Picture 2" descr="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4466492"/>
          </a:xfrm>
          <a:prstGeom prst="rect">
            <a:avLst/>
          </a:prstGeom>
        </p:spPr>
      </p:pic>
      <p:pic>
        <p:nvPicPr>
          <p:cNvPr id="4" name="Picture 3" descr="eq_gm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40680"/>
            <a:ext cx="3086100" cy="5509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g v2 vs published card: GMR 0.249 [0.205, 0.305], 18/18 devices lower (computed here from the stored rows). g v2 vs C0_refit: stored in I15-2.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Per-device RRMS: published card, starting card, C0_refit, g v2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804672"/>
          <a:ext cx="11384279" cy="556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685800"/>
                <a:gridCol w="914400"/>
                <a:gridCol w="1188720"/>
                <a:gridCol w="1143000"/>
                <a:gridCol w="1005840"/>
                <a:gridCol w="1097280"/>
                <a:gridCol w="1234440"/>
                <a:gridCol w="1097280"/>
                <a:gridCol w="1143000"/>
              </a:tblGrid>
              <a:tr h="265176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Curves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lambda* (V)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Published card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Starting card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g v2 (Python)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g v2 (element deck)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g v2 / 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02428"/>
                          </a:solidFill>
                        </a:defRPr>
                      </a:pPr>
                      <a:r>
                        <a:t>g v2 / published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nmos_L0p15_W1p6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1.654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0.538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nmos_L0p19_W7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0.0967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0.0699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0.0170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0.0170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0.791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nmos_L0p25_W1p6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0.0194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nmos_L100_W100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0.1403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0.0695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nmos_L1_W1p6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0.1283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0.0331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0.0256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0.0256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0.773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nmos_L1_W3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0.1599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0.857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nmos_L20_W0p64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0.1283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0.0473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0.0471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0.843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0.369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nmos_L8_W1p6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0.1474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0.0463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0.0260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0.691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pmos_L0p35_W0p55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0.7270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0.4090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0.4089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0.3356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0.3356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0.462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pmos_L0p35_W1p6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0.3776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0.1876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0.1876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0.1063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0.566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0.281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pmos_L0p35_W5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0.3291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0.470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pmos_L0p5_W0p42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0.4560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0.1617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0.1615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0.1004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0.622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0.220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pmos_L0p5_W0p64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0.3498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0.1943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0.1942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0.1176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0.605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0.336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pmos_L2_W5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0.1907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0.0796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0.0796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0.0574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0.0574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0.721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pmos_L4_W7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0.2702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0.0844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0.0832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0.308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pmos_L8_W0p84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0.4340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0.1352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0.1352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0.0767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0.0767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0.568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0.177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pmos_L8_W1p6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0.5433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0.1322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0.0721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0.545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0.133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pmos_L8_W5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0.3146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0.0526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0.0526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0.167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All-device mean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0.2751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0.1109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0.2595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0.0984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02428"/>
                          </a:solidFill>
                        </a:defRPr>
                      </a:pP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I-V, held-out devices 1-3 of 18: nmos_L0p15_W1p6, nmos_L0p19_W7, nmos_L0p25_W1p6</a:t>
            </a:r>
          </a:p>
        </p:txBody>
      </p:sp>
      <p:pic>
        <p:nvPicPr>
          <p:cNvPr id="3" name="Picture 2" descr="iv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88720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9963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202428"/>
                </a:solidFill>
              </a:rPr>
              <a:t>All curves are NGSpice runs (ngspice-41 OSDI build, state C), re-simulated by this script. Method: g v2 held-out card + fold OSDI module in the element deck; RRMS equal to the stored I17-1 element-deck rows (difference 0) and within 2.0e-04 of the I15-2 Python rows. Faded: curves outside the scored set. Top: Id-Vd; bottom: Id-Vg, log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I-V, held-out devices 4-6 of 18: nmos_L100_W100, nmos_L1_W1p6, nmos_L1_W3</a:t>
            </a:r>
          </a:p>
        </p:txBody>
      </p:sp>
      <p:pic>
        <p:nvPicPr>
          <p:cNvPr id="3" name="Picture 2" descr="iv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88720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9963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202428"/>
                </a:solidFill>
              </a:rPr>
              <a:t>All curves are NGSpice runs (ngspice-41 OSDI build, state C), re-simulated by this script. Method: g v2 held-out card + fold OSDI module in the element deck; RRMS equal to the stored I17-1 element-deck rows (difference 0) and within 2.0e-04 of the I15-2 Python rows. Faded: curves outside the scored set. Top: Id-Vd; bottom: Id-Vg, log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I-V, held-out devices 7-9 of 18: nmos_L20_W0p64, nmos_L8_W1p6, pmos_L0p35_W0p55</a:t>
            </a:r>
          </a:p>
        </p:txBody>
      </p:sp>
      <p:pic>
        <p:nvPicPr>
          <p:cNvPr id="3" name="Picture 2" descr="iv_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88720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9963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202428"/>
                </a:solidFill>
              </a:rPr>
              <a:t>All curves are NGSpice runs (ngspice-41 OSDI build, state C), re-simulated by this script. Method: g v2 held-out card + fold OSDI module in the element deck; RRMS equal to the stored I17-1 element-deck rows (difference 0) and within 2.0e-04 of the I15-2 Python rows. Faded: curves outside the scored set. Top: Id-Vd; bottom: Id-Vg, log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I-V, held-out devices 10-12 of 18: pmos_L0p35_W1p6, pmos_L0p35_W5, pmos_L0p5_W0p42</a:t>
            </a:r>
          </a:p>
        </p:txBody>
      </p:sp>
      <p:pic>
        <p:nvPicPr>
          <p:cNvPr id="3" name="Picture 2" descr="iv_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88720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9963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202428"/>
                </a:solidFill>
              </a:rPr>
              <a:t>All curves are NGSpice runs (ngspice-41 OSDI build, state C), re-simulated by this script. Method: g v2 held-out card + fold OSDI module in the element deck; RRMS equal to the stored I17-1 element-deck rows (difference 0) and within 2.0e-04 of the I15-2 Python rows. Faded: curves outside the scored set. Top: Id-Vd; bottom: Id-Vg, log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I-V, held-out devices 13-15 of 18: pmos_L0p5_W0p64, pmos_L2_W5, pmos_L4_W7</a:t>
            </a:r>
          </a:p>
        </p:txBody>
      </p:sp>
      <p:pic>
        <p:nvPicPr>
          <p:cNvPr id="3" name="Picture 2" descr="iv_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88720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9963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202428"/>
                </a:solidFill>
              </a:rPr>
              <a:t>All curves are NGSpice runs (ngspice-41 OSDI build, state C), re-simulated by this script. Method: g v2 held-out card + fold OSDI module in the element deck; RRMS equal to the stored I17-1 element-deck rows (difference 0) and within 2.0e-04 of the I15-2 Python rows. Faded: curves outside the scored set. Top: Id-Vd; bottom: Id-Vg, log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02428"/>
                </a:solidFill>
              </a:rPr>
              <a:t>I-V, held-out devices 16-18 of 18: pmos_L8_W0p84, pmos_L8_W1p6, pmos_L8_W5</a:t>
            </a:r>
          </a:p>
        </p:txBody>
      </p:sp>
      <p:pic>
        <p:nvPicPr>
          <p:cNvPr id="3" name="Picture 2" descr="iv_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88720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19963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202428"/>
                </a:solidFill>
              </a:rPr>
              <a:t>All curves are NGSpice runs (ngspice-41 OSDI build, state C), re-simulated by this script. Method: g v2 held-out card + fold OSDI module in the element deck; RRMS equal to the stored I17-1 element-deck rows (difference 0) and within 2.0e-04 of the I15-2 Python rows. Faded: curves outside the scored set. Top: Id-Vd; bottom: Id-Vg, log scale.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Deployment checks of the g v2 element (I17-1, full-data lambda* 1 V)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868680"/>
          <a:ext cx="96012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097280"/>
                <a:gridCol w="1371600"/>
                <a:gridCol w="14630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02428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Q1 equivalence, tight tolerance (points violating)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Q1 convergence messages / non-finite / failed runs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Q1 |I(Vds = 0)|, tight tolerance (A)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4.87e-17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&lt;= 1e-12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Verilog-A g vs Python g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2.8e-16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&lt;= 1e-09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Verilog-A g, exchanged vs forward terminals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1.7e-16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&lt;= 1e-12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terminal-exchange asymmetry |d ln I|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2.2e-05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&lt;= 1e-03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Q2 gm / gds vs element identity (AC, tight)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1.1e-05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&lt;= 1e-03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Q2 capacitances vs 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3.3e-14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&lt;= 1e-03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gm sign change in strong inversion (curves)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 of 54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Q3 circuits failing only with the element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default-tolerance relative difference, |I| &gt; 1 nA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1.84e-03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 if &gt; 1e-03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gds sign change introduced (curves)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6 of 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 if &gt; 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runtime ratio element / card (max)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4.60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 if &gt; 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50">
                          <a:solidFill>
                            <a:srgbClr val="202428"/>
                          </a:solidFill>
                        </a:defRPr>
                      </a:pPr>
                      <a:r>
                        <a:t>restriction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68112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Label: deployable with restrictions. Q1 grid: Vgs 0-1.85 V x Vds -1.85..1.85 V, 25 mV. Q3: inverters, 5-stage ring oscillators, current mirrors.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gds sign changes on pmos_L2_W5, pmos_L8_W0p84, pmos_L8_W1p6, pmos_L8_W5 (long-channel pMOS); the same points appear in I_card x exp(g), so they come from g. Max runtime ratio on ro5_A.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02428"/>
                </a:solidFill>
              </a:rPr>
              <a:t>The Vds = 0 check was re-registered at tight tolerance after an observed failure at default tolerance (I16-1: 1.0006e-12 A, 1 point); I16-1 stays 'not deployable'.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Cost: NGSpice calls per held-out device, sky130 (I22-1, I23-1)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17320"/>
                <a:gridCol w="1920240"/>
                <a:gridCol w="1325880"/>
                <a:gridCol w="1005840"/>
                <a:gridCol w="105156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Arm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Refit calls / 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Other calls / 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Total / 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x 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g trainings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Training CPU 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Starting card (once per device)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44,219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44,219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C0_refit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315.7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315.7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M_bias v1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325.7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325.7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Selected g v2 (nested lambda selection)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310.7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27,880 (estimate)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28,191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89.3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28,110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g v2, fixed lambda 1 V (I23-1)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317.3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317.3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11,390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2900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202428"/>
                </a:solidFill>
              </a:rPr>
              <a:t>Selection calls: 1,530 inner refits over 18 folds, estimated as inner refits x median held-out calls (cost.json); 98.9% of the g v2 total. Full-data lambda*: 90 refits, 29,520 calls, once.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02428"/>
                </a:solidFill>
              </a:rPr>
              <a:t>Fixed lambda 1 V vs selected g v2: sky130 GMR 0.988 [0.962, 1.014]; NIST lvt 1.018 [0.991, 1.044]; NIST RT card 1.030 [1.002, 1.058].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02428"/>
                </a:solidFill>
              </a:rPr>
              <a:t>I23-1 outcome: 'fixed lambda 1 V not shown non-inferior' (fails on NIST RT card, where the selection chose 0 V for all 87 devices); the nested selection stays in the draft method.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02428"/>
                </a:solidFill>
              </a:rPr>
              <a:t>One NGSpice call: one simulation of a device's measured bias set.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Baselines at matched protocol, sky130 (I22-1)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51560"/>
                <a:gridCol w="1051560"/>
                <a:gridCol w="2194560"/>
                <a:gridCol w="219456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Correction-stage arm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All-device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GMR vs 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GMR(arm, g v2)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Calls x C0_refit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Selected g v2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0.0739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0.0700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0.743 [0.654, 0.855]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89.3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B1 wider card set (+19 BSIM4 parameters)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0.1054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0.0988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1.020 [0.999, 1.056]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1.373 [1.191, 1.556]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2.08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B2 extrinsic resistance + self-heating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0.0983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1.013 [0.994, 1.045]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1.363 [1.182, 1.547]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B3 cubic polynomial g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0.0900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0.0847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0.912 [0.852, 0.977]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1.227 [1.125, 1.331]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B4 Gaussian-process discrepancy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0.1330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0.1246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1.171 [1.009, 1.368]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1.576 [1.355, 1.867]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3154680"/>
          <a:ext cx="9692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28600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Parameter-extraction arm (from the starting card, budget = C0_refit calls)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GMR(arm, TRF refit)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428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CMA-ES, sigma0 0.1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1.048 [1.000, 1.117]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LS better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CMA-ES, sigma0 0.03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1.021 [0.999, 1.055]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inconclusive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TuRBO-1 (BoTorch), L_init 0.1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1.002 [0.994, 1.011]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inconclusive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TuRBO-1 (BoTorch), L_init 0.03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1.007 [0.997, 1.019]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02428"/>
                          </a:solidFill>
                        </a:defRPr>
                      </a:pPr>
                      <a:r>
                        <a:t>inconclusive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I22-1 outcome: 'selected g v2 not matched by a correction-stage baseline'. Same protocol for all arms: state C, g v2 folds and training order, held-out refit max_nfev 400; B1 / B2 matched per TRF iteration.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428"/>
                </a:solidFill>
              </a:rPr>
              <a:t>Part C budget per device: 165-403 NGSpice calls (the C0_refit calls of that device); TRF refit = C0_refit card. GMR &gt; 1: the arm has the higher RRMS.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Other datasets (DEV): same g v2 recipe, GMR vs C0_refit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868680"/>
          <a:ext cx="11567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51560"/>
                <a:gridCol w="1508760"/>
                <a:gridCol w="1508760"/>
                <a:gridCol w="2606040"/>
                <a:gridCol w="214884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02428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02428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02428"/>
                          </a:solidFill>
                        </a:defRPr>
                      </a:pPr>
                      <a:r>
                        <a:t>C0_refit RRMS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02428"/>
                          </a:solidFill>
                        </a:defRPr>
                      </a:pPr>
                      <a:r>
                        <a:t>g v2 RRMS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02428"/>
                          </a:solidFill>
                        </a:defRPr>
                      </a:pPr>
                      <a:r>
                        <a:t>GMR(g v2, C0_refit) [95% CI]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02428"/>
                          </a:solidFill>
                        </a:defRPr>
                      </a:pPr>
                      <a:r>
                        <a:t>Statement</a:t>
                      </a:r>
                    </a:p>
                  </a:txBody>
                  <a:tcPr marL="45720" marR="45720" marT="9144" marB="9144">
                    <a:solidFill>
                      <a:srgbClr val="E8EC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NIST sky130 4 K, lvt (77 K card)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0.0399 / 0.0427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0.0318 / 0.0340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0.803 [0.757, 0.857] 50/53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gain; element not deployable (I21-1)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NIST sky130 4 K, RT card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0.0567 / 0.0593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0.0466 / 0.0491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0.811 [0.761, 0.871] 77/87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gain; element not deployable (I21-1)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IHP SG13G2 300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0.0191 / 0.0191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0.0205 / 0.0205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1.255 [1.026, 1.600] 9/18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worse; B1 vs C0_refit 0.775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IHP SG13G2 233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0.0273 / 0.0273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0.0279 / 0.0279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1.084 [0.898, 1.371] 11/18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inconclusive; B1 vs C0_refit 0.794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IHP SG13G2 343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0.0190 / 0.0190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0.0194 / 0.0194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1.188 [0.990, 1.503] 10/18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inconclusive; B1 vs C0_refit 0.695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IHP SG13G2 398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0.0197 / 0.0197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0.0202 / 0.0202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1.260 [1.026, 1.607] 11/18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worse; B1 vs C0_refit 0.809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TU Delft 40 nm, 4.13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45 (7 groups)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0.0602 / 0.0532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0.0484 / 0.0449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0.826 [0.669, 1.014] 30/45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inconclusive (cluster CI includes 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TU Delft 40 nm, 295.0 K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45 (7 groups)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0.0265 / 0.0251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0.0215 / 0.0218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0.829 [0.523, 1.247] 29/45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02428"/>
                          </a:solidFill>
                        </a:defRPr>
                      </a:pPr>
                      <a:r>
                        <a:t>inconclusive (cluster CI includes 1)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61772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IHP: PSP103 cards, 12-parameter refit; the dataset gate keeps C0_refit at all 4 temperatures; no element exists for PSP103. B1 (wider PSP103 card set) gains over C0_refit at all 4 temperatures (I22-1, I23-1).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TU Delft: generic CMOSedu BSIM4 example card, not a foundry PDK; CI by 7 geometry groups.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02428"/>
                </a:solidFill>
              </a:rPr>
              <a:t>NIST: devices of the NIST sky130 4 K data set; RT card = room-temperature sky130 card. Element checks (I21-1) fail core checks on both.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428"/>
                </a:solidFill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No locked TEST result: every number in this deck is DEV. The method draft is not frozen (planned about 2026-12-10).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sky130 77 K: method choices (inputs, EPS, penalty, lambda grid) were made on these 18 devices; the 6 former TEST devices were opened on 2026-10-21.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IHP SG13G2: no gain; 300 K GMR 1.255 [1.026, 1.600]; B1 (wider card set) is better than g v2 at all 4 temperatures; no PSP103 element.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NIST (lvt, RT card): RRMS gain, but the element is not deployable on either dataset (I21-1 core failures).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sky130 element restrictions: default-tolerance difference 1.84e-03, gds sign changes 6 of 90 curves, runtime ratio up to 4.60.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Cost: nested lambda selection is 89x the C0_refit NGSpice calls (28,191 per device); fixed lambda 1 V costs 1.01x but is not shown non-inferior on NIST RT card (1.030 [1.002, 1.058]).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Starting cards: 44,219 NGSpice calls per device; no matched-budget comparison of this stage (NPE and neural-operator baselines not run).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TU Delft: generic example card; result inconclusive with the 7-group cluster CI.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02428"/>
                </a:solidFill>
              </a:rPr>
              <a:t>- M_bias v1 has a lower sky130 RRMS (0.0735) than g v2 (0.0739) but is not deployable as a circuit element.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