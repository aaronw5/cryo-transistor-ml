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02428"/>
                </a:solidFill>
              </a:rPr>
              <a:t>SKY130 at 77 K: 43-parameter card refit with a shared bias-only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>
                <a:solidFill>
                  <a:srgbClr val="5A6066"/>
                </a:solidFill>
              </a:rPr>
              <a:t>Measured I-V of 18 transistors; held-out device RRMS from NGSpice (leave-one-device-out)</a:t>
            </a:r>
          </a:p>
          <a:p>
            <a:pPr algn="ctr">
              <a:spcAft>
                <a:spcPts val="400"/>
              </a:spcAft>
            </a:pPr>
            <a:r>
              <a:rPr sz="1800">
                <a:solidFill>
                  <a:srgbClr val="5A6066"/>
                </a:solidFill>
              </a:rPr>
              <a:t>All-device RRMS: released card 0.2751, paper 43 parameters 0.2038, M_bias 0.0732</a:t>
            </a:r>
          </a:p>
          <a:p>
            <a:pPr algn="ctr">
              <a:spcAft>
                <a:spcPts val="400"/>
              </a:spcAft>
            </a:pPr>
            <a:r>
              <a:rPr sz="1800">
                <a:solidFill>
                  <a:srgbClr val="5A6066"/>
                </a:solidFill>
              </a:rPr>
              <a:t>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428"/>
                </a:solidFill>
              </a:rPr>
              <a:t>Data and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Devices: SkyWater SKY130 130 nm, measured at 77 K (Beall et al.); 18 transistors, 8 nMOS (nfet_01v8_lvt) and 10 pMOS (pfet_01v8_lvt), L 0.15-100 um, W 0.42-100 um.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Curves per device: 11. Id-Vg at |Vds| = 0.01, 0.37, 0.74, 1.11, 1.48, 1.85 V; Id-Vd at |Vgs| = 0.37, 0.74, 1.11, 1.48, 1.85 V.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Curve RRMS = RMS(I_sim - I_meas) / mean|I_meas| over the trimmed sweep points (paper rrmsCalc.py). Device RRMS = mean over included curves.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Curve inclusion is frozen to the set the released card includes (9-11 curves per device). The upstream dynamic inclusion is not used here.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All-device = mean of the 18 device values. Combined = (mean nMOS + mean pMOS) / 2. Paper numbers below are all-device.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Simulator: ngspice-41 (arm64 build; reproduces the reference scores exactly). Every RRMS on these slides is from an NGSpice simulation.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Reference, 18 devices: released card 0.2751 (combined 0.2595); paper, 7 parameters 0.2284 (0.2135); paper, 43 parameters 0.2038 (0.1905).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02428"/>
                </a:solidFill>
              </a:rPr>
              <a:t>Device split: the 18 devices are the 12 former DEV and 6 former TEST devices. The TEST devices were opened on 2026-10-21 by user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428"/>
                </a:solidFill>
              </a:rPr>
              <a:t>Method: card refit with a shared correction g, leave-one-device-out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2697480" cy="114300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428"/>
                </a:solidFill>
              </a:rPr>
              <a:t>Starting card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43 BSIM4 parameters per device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(direct NGSpice fit, round 3 + FD)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051560"/>
            <a:ext cx="2697480" cy="114300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428"/>
                </a:solidFill>
              </a:rPr>
              <a:t>Train g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on the 17 other devices'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starting-card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2697480" cy="114300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428"/>
                </a:solidFill>
              </a:rPr>
              <a:t>Refit held-out card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43 parameters, TRF in NGSpice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with g fixed in the residual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1051560"/>
            <a:ext cx="2697480" cy="114300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428"/>
                </a:solidFill>
              </a:rPr>
              <a:t>Score held-out device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strict paper RRMS,</a:t>
            </a:r>
          </a:p>
          <a:p>
            <a:pPr algn="ctr"/>
            <a:r>
              <a:rPr sz="1300" b="0">
                <a:solidFill>
                  <a:srgbClr val="202428"/>
                </a:solidFill>
              </a:rPr>
              <a:t>NGSpice x exp(g)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623060"/>
            <a:ext cx="182880" cy="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1623060"/>
            <a:ext cx="182880" cy="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23960" y="1623060"/>
            <a:ext cx="182880" cy="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4231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Model:  I_D = I_card(V; theta) x exp(g),   g = mean over 5 seeds of tanh(MLP 3-16-16-1(is_pmos, |Vgs|/VDD, |Vds|/VDD)),   VDD = 1.85 V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g inputs carry no geometry. One g is shared by all devices of both polarities. 353 weights per seed, 1765 in total.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Training of g: loss = mean strict paper RRMS of I_card x exp(g) over the training records, + 1e-4 L2; Adam, learning rate 3e-3, 2000 steps; seeds 0-4. Cards fixed during training.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Held-out refit: start from the device's starting card; bounded TRF on the 43 parameters, max_nfev 400, 2 IRLS rounds, diff_step 0.01; residual = I_card x exp(g) - I_meas.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Folds: 18. In each fold the held-out device enters neither the training of g nor any other fitted quantity.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Controls with the same refit:  C0_refit, g = 0.  T1_inloop, g replaced by one constant per (polarity, curve tag), e.g. pMOS idvg@0.37, 21 values fitted on the training devices; defined only at the measured bias settings.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Recipe: pre-registered for the 12-device run (I3-2, 2026-10-20); applied unchanged to all 18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Performance across methods, sky130 77 K measured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77240"/>
          <a:ext cx="1133856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463040"/>
                <a:gridCol w="320040"/>
                <a:gridCol w="822960"/>
                <a:gridCol w="822960"/>
                <a:gridCol w="731520"/>
                <a:gridCol w="1691640"/>
                <a:gridCol w="2240280"/>
              </a:tblGrid>
              <a:tr h="19659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Fitted parameters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All-device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NGSpice cost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02428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196596">
                <a:tc gridSpan="8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  <a:r>
                        <a:t>References (18 devices)</a:t>
                      </a: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Published 77 K card (Beall et al.), strict scorer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published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0.2751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0.2304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reference_scores.json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Paper, 7 parameters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0.2284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0.2135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0.2027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reference_scores.json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Paper, 43 parameters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0.2038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0.1905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0.1763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reference_scores.json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 gridSpan="8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  <a:r>
                        <a:t>Fixed ML series, July setup (18 devices)</a:t>
                      </a: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MLP forward 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0.2723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0.2579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0.2363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 forward 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out/pdk_direct_mlp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emu_search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0.2357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0.2204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0.2072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10k-card bank/device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out/pdk_ml_emu_raw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emu_search+fd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0.2290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0.2140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0.2066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bank + FD; 2420 s run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out/pdk_ml_emu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 gridSpan="8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  <a:r>
                        <a:t>Cold-start loop, October (18 devices)</a:t>
                      </a: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Cold paper pipeline, round 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0.1697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0.1602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0.1585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40k bank sims/device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polished/pipe_r4_fd (before)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Cold paper pipeline, round 4 (a)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0.1522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0.1437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0.1173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40k bank sims/device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pipe_fixed/full_r4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NGSpice (CMA-ES + TRF)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0.1676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0.1575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0.1460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3283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ngspice_direct/seven_r1_direct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NGSpice, round 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0.1201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0.1126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0.1071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21213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ngspice_direct/full_r1_direct_seeded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NGSpice, round 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0.1024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14287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ngspice_direct/full_r2_direct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NGSpice, round 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0.0981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0.0853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8405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ngspice_direct/full_r3_direct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Direct NGSpice, round 3 + FD (starting card)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0.0976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0.0823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+314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polished/direct43_r3_fd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 gridSpan="8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  <a:r>
                        <a:t>This deck: leave-one-device-out, all 18 devices</a:t>
                      </a: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C0_refit (refit, g = 0)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0.0975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+315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I3_2/all18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T1_inloop (refit, per-curve gain table) (b)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 + table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0.0744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0.0703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0.0672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+317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I3_2/all18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M_bias (refit with shared g)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 + 1765 shared (c)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0.0691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0.0643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+317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I3_2/all18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 gridSpan="8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  <a:r>
                        <a:t>Pre-registered I3-2 run, 12 devices, training on 11 (d)</a:t>
                      </a: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1" i="1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6F7F8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Published 77 K card, same 12 devices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published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0.2848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0.2608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0.2304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reference_scores.json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C0_refit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0.1072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0.0981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+300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I3_2/real_dev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T1_inloop (b)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 + table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0.0650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+330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I3_2/real_dev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M_bias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43 + 1765 shared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0.0806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0.0749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0.0605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+326 calls/device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02428"/>
                          </a:solidFill>
                        </a:defRPr>
                      </a:pPr>
                      <a:r>
                        <a:t>I3_2/real_dev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202428"/>
                </a:solidFill>
              </a:rPr>
              <a:t>Fixed procedures applied to every device; no per-device choice between methods. Rows with n = 12 compare only with each other.  (a) Re-scored with failed-curve rejection (stored before the fix: 0.1513).  (b) One constant g per (polarity, curve tag), 21 values; defined only at the measured biases.  (c) 43 card parameters per device plus 5 x 353 network weights shared by all devices.  (d) Pre-registered I3-2 run on the 12 former DEV devices.  Cost: NGSpice simulations; '+' = on top of the starting card; direct NGSpice rounds: calls in that 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Per-device held-out RRMS, 18 devices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777240"/>
          <a:ext cx="8823960" cy="527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25880"/>
                <a:gridCol w="1325880"/>
                <a:gridCol w="1325880"/>
                <a:gridCol w="1325880"/>
                <a:gridCol w="1325880"/>
              </a:tblGrid>
              <a:tr h="2395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Published card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Starting card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T1_inloop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M_bias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nmos_L0p15_W1p6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nmos_L0p19_W7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0.0967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nmos_L0p25_W1p6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0.0171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nmos_L100_W100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0.1403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nmos_L1_W1p6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0.1283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0.0269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nmos_L1_W3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0.1599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nmos_L20_W0p64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0.1283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nmos_L8_W1p6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0.1474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0.0257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pmos_L0p35_W0p55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0.7270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0.4090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0.4089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0.3255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0.3315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pmos_L0p35_W1p6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0.3776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0.1876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0.1876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0.3291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0.0666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pmos_L0p5_W0p42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0.4560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0.1617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0.0919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0.0966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pmos_L0p5_W0p64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0.3498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0.1942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0.1136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pmos_L2_W5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0.1907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0.0707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pmos_L4_W7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0.2702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0.0763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pmos_L8_W0p84 *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0.4340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0.1352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0.1352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0.0752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0.5433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0.0778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0.3146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0.0537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All-device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0.2751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0.2304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0.0823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372600" y="914400"/>
            <a:ext cx="2697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* former TEST device (opened 2026-10-21).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Starting card: direct NGSpice 43-parameter fit (round 3 + FD); every refit starts from it.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C0_refit, T1_inloop, M_bias: held-out refit, leave-one-device-out.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M_bias below C0_refit on 16 of 18 devices.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Published-card RRMS: reference_scores.json; reproduced by the deck re-simulation.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Earlier pre-registered run: 12 devices, training on 11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Same 12 devices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Published card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T1_inloop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M_bias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I3-2 run (2026-10-20), g trained on 11 devices, all-device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0.2848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0.1072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0.0820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0.0806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I3-2 run (2026-10-20), g trained on 11 devices, combined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0.2608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0.0981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0.0749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All-18 run, g trained on 17 devices, all-device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0.2848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0.1072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0.0822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0.0803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All-18 run, g trained on 17 devices, combined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0.2608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0.0981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0.0761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0.0745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The I3-2 run was pre-registered on the 12 former DEV devices; the 6 TEST devices were not loaded then.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On 2026-10-21 the user opened the 6 TEST devices. The all-18 run uses the same recipe with 17 training devices per fold.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C0_refit does not depend on the training devices: on the 12 devices the two runs give the same values (max |difference| 0.0e+00).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Per-device RRMS, 18 devices (log scale)</a:t>
            </a:r>
          </a:p>
        </p:txBody>
      </p:sp>
      <p:pic>
        <p:nvPicPr>
          <p:cNvPr id="3" name="Picture 2" descr="rrms_pe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4408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Deployment: g as a Verilog-A element in NGSpice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Export: g written as Verilog-A (module i3_2_bias_corr, explicit tanh layers, 5-seed mean). Element between the external drain d and the transistor drain di:  I(d, s) += (exp(g) - 1) x I(d -&gt; di).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Compile: OpenVAF 23.5.0 -&gt; OSDI 0.3. Simulator: ngspice-41 built with --enable-osdi (same source and flags as the canonical build; uncorrected currents bit-identical).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Netlist:  M1 di g s b &lt;card&gt;;  NCORR d g s di corrmodel;  pre_osdi &lt;file&gt;.osdi in .control.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301752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2514600"/>
                <a:gridCol w="251460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Devices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SPICE-native (Verilog-A)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NGSpice card x exp(g), Python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Max per-device |difference|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All-18 run, 18 fold models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0.073171 (0.069117)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0.073163 (0.069110)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1.7e-05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I3-2 run, 12 fold models (F1c)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0.080555 (0.074863)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0.080550 (0.074858)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1.2e-05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Values: all-device RRMS (combined).  Python value on the deck re-simulation vs stored all-18 value: max per-device |difference| 0.0e+00.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I3-2 F1c: SPICE-native and Python currents differ by up to 2.45e-3 relative, at a 2.0e-12 A point (pmos_L0p5_W0p42, Id-Vg at |Vds| = 1.85 V); 0 convergence messages, 0 non-finite currents.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All-18 SPICE-native runs: 0 devices with convergence messages, 0 non-finite scored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Learned g, full model trained on all 18 devices</a:t>
            </a:r>
          </a:p>
        </p:txBody>
      </p:sp>
      <p:pic>
        <p:nvPicPr>
          <p:cNvPr id="3" name="Picture 2" descr="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37407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The full model is the one written for deployment; held-out scores use the 18 fold models (each without its device). exp(g) is the factor applied to the card current.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nmos_L0p15_W1p6:  NMOS, L = 0.15 um, W = 1.6 um</a:t>
            </a:r>
          </a:p>
        </p:txBody>
      </p:sp>
      <p:pic>
        <p:nvPicPr>
          <p:cNvPr id="3" name="Picture 2" descr="iv_nmos_L0p15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nmos_L0p19_W7:  NMOS, L = 0.19 um, W = 7 um  (former TEST device)</a:t>
            </a:r>
          </a:p>
        </p:txBody>
      </p:sp>
      <p:pic>
        <p:nvPicPr>
          <p:cNvPr id="3" name="Picture 2" descr="iv_nmos_L0p19_W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nmos_L0p25_W1p6:  NMOS, L = 0.25 um, W = 1.6 um</a:t>
            </a:r>
          </a:p>
        </p:txBody>
      </p:sp>
      <p:pic>
        <p:nvPicPr>
          <p:cNvPr id="3" name="Picture 2" descr="iv_nmos_L0p25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nmos_L100_W100:  NMOS, L = 100 um, W = 100 um</a:t>
            </a:r>
          </a:p>
        </p:txBody>
      </p:sp>
      <p:pic>
        <p:nvPicPr>
          <p:cNvPr id="3" name="Picture 2" descr="iv_nmos_L100_W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nmos_L1_W1p6:  NMOS, L = 1 um, W = 1.6 um  (former TEST device)</a:t>
            </a:r>
          </a:p>
        </p:txBody>
      </p:sp>
      <p:pic>
        <p:nvPicPr>
          <p:cNvPr id="3" name="Picture 2" descr="iv_nmos_L1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nmos_L1_W3:  NMOS, L = 1 um, W = 3 um</a:t>
            </a:r>
          </a:p>
        </p:txBody>
      </p:sp>
      <p:pic>
        <p:nvPicPr>
          <p:cNvPr id="3" name="Picture 2" descr="iv_nmos_L1_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nmos_L20_W0p64:  NMOS, L = 20 um, W = 0.64 um</a:t>
            </a:r>
          </a:p>
        </p:txBody>
      </p:sp>
      <p:pic>
        <p:nvPicPr>
          <p:cNvPr id="3" name="Picture 2" descr="iv_nmos_L20_W0p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nmos_L8_W1p6:  NMOS, L = 8 um, W = 1.6 um  (former TEST device)</a:t>
            </a:r>
          </a:p>
        </p:txBody>
      </p:sp>
      <p:pic>
        <p:nvPicPr>
          <p:cNvPr id="3" name="Picture 2" descr="iv_nmos_L8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pmos_L0p35_W0p55:  PMOS, L = 0.35 um, W = 0.55 um</a:t>
            </a:r>
          </a:p>
        </p:txBody>
      </p:sp>
      <p:pic>
        <p:nvPicPr>
          <p:cNvPr id="3" name="Picture 2" descr="iv_pmos_L0p35_W0p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pmos_L0p35_W1p6:  PMOS, L = 0.35 um, W = 1.6 um  (former TEST device)</a:t>
            </a:r>
          </a:p>
        </p:txBody>
      </p:sp>
      <p:pic>
        <p:nvPicPr>
          <p:cNvPr id="3" name="Picture 2" descr="iv_pmos_L0p35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pmos_L0p35_W5:  PMOS, L = 0.35 um, W = 5 um</a:t>
            </a:r>
          </a:p>
        </p:txBody>
      </p:sp>
      <p:pic>
        <p:nvPicPr>
          <p:cNvPr id="3" name="Picture 2" descr="iv_pmos_L0p35_W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pmos_L0p5_W0p42:  PMOS, L = 0.5 um, W = 0.42 um</a:t>
            </a:r>
          </a:p>
        </p:txBody>
      </p:sp>
      <p:pic>
        <p:nvPicPr>
          <p:cNvPr id="3" name="Picture 2" descr="iv_pmos_L0p5_W0p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pmos_L0p5_W0p64:  PMOS, L = 0.5 um, W = 0.64 um  (former TEST device)</a:t>
            </a:r>
          </a:p>
        </p:txBody>
      </p:sp>
      <p:pic>
        <p:nvPicPr>
          <p:cNvPr id="3" name="Picture 2" descr="iv_pmos_L0p5_W0p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pmos_L2_W5:  PMOS, L = 2 um, W = 5 um</a:t>
            </a:r>
          </a:p>
        </p:txBody>
      </p:sp>
      <p:pic>
        <p:nvPicPr>
          <p:cNvPr id="3" name="Picture 2" descr="iv_pmos_L2_W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pmos_L4_W7:  PMOS, L = 4 um, W = 7 um</a:t>
            </a:r>
          </a:p>
        </p:txBody>
      </p:sp>
      <p:pic>
        <p:nvPicPr>
          <p:cNvPr id="3" name="Picture 2" descr="iv_pmos_L4_W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pmos_L8_W0p84:  PMOS, L = 8 um, W = 0.84 um  (former TEST device)</a:t>
            </a:r>
          </a:p>
        </p:txBody>
      </p:sp>
      <p:pic>
        <p:nvPicPr>
          <p:cNvPr id="3" name="Picture 2" descr="iv_pmos_L8_W0p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pmos_L8_W1p6:  PMOS, L = 8 um, W = 1.6 um</a:t>
            </a:r>
          </a:p>
        </p:txBody>
      </p:sp>
      <p:pic>
        <p:nvPicPr>
          <p:cNvPr id="3" name="Picture 2" descr="iv_pmos_L8_W1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pmos_L8_W5:  PMOS, L = 8 um, W = 5 um</a:t>
            </a:r>
          </a:p>
        </p:txBody>
      </p:sp>
      <p:pic>
        <p:nvPicPr>
          <p:cNvPr id="3" name="Picture 2" descr="iv_pmos_L8_W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3879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02428"/>
                </a:solidFill>
              </a:rPr>
              <a:t>Points: measured. Lines: NGSpice (ngspice-41). M_bias line: refit card with the fold Verilog-A g in the netlist (OSDI), g trained without this device. Faded: curves outside the frozen inclusion set (not scored). RRMS: strict paper metric for this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