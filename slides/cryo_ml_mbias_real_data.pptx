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202428"/>
                </a:solidFill>
              </a:rPr>
              <a:t>SKY130 at 77 K: 43-parameter card refit with a shared bias-only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46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Measured I-V of 18 transistors; held-out device RRMS from NGSpice (leave-one-device-out)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All-device RRMS: released card 0.2751, paper 43 parameters 0.2038, M_bias 0.0735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2026-10-22 (BSIM4 clamp state C, I13-1)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428"/>
                </a:solidFill>
              </a:rPr>
              <a:t>Data and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Devices: SkyWater SKY130 130 nm, measured at 77 K (Beall et al.); 18 transistors, 8 nMOS (nfet_01v8_lvt) and 10 pMOS (pfet_01v8_lvt), L 0.15-100 um, W 0.42-100 um.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Curves per device: 11. Id-Vg at |Vds| = 0.01, 0.37, 0.74, 1.11, 1.48, 1.85 V; Id-Vd at |Vgs| = 0.37, 0.74, 1.11, 1.48, 1.85 V.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RRMS = RMS(I_sim - I_meas) / mean|I_meas| over the trimmed sweep points (paper rrmsCalc.py). Device RRMS = mean over included curves.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inclusion is frozen to the set the released card includes (9-11 curves per device). The upstream dynamic inclusion is not used here.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All-device = mean of the 18 device values. Combined = (mean nMOS + mean pMOS) / 2. Paper numbers below are all-device.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Simulator: ngspice-41 (arm64 build; reproduces the reference scores exactly). Every RRMS on these slides is from an NGSpice simulation, with the BSIM4 A2 clamp written into the card (state C, slide 'BSIM4 A2 clamp').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Reference, 18 devices: released card 0.2751 (combined 0.2595); paper, 7 parameters 0.2284 (0.2135); paper, 43 parameters 0.2038 (0.1905).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 split: the 18 devices are the 12 former DEV and 6 former TEST devices. The TEST devices were opened on 2026-10-21 by user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Pipeline: measured I-V to held-out RRMS, 18 folds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Measured I-V, 77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18 devices x 11 curves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9-11 curves scored per device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Starting cards (43 parameters)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direct NGSpice fit, 5 stages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47,502 simulations per device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6676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Records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starting card simulated once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on the measured grid: 25,086 points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22192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99831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Train g (fold k)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17 devices, 23,350-24,075 points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5 seeds, Python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Refit card of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37-40 active of 43 parameters, TRF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g fixed; 127-403 simulations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Score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NGSpice(final card) x exp(g)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strict paper RRMS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2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99831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2148840"/>
            <a:ext cx="7955280" cy="64008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40690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repeat for k = 1 ... 18 (leave-one-device-out)</a:t>
            </a:r>
          </a:p>
        </p:txBody>
      </p:sp>
      <p:pic>
        <p:nvPicPr>
          <p:cNvPr id="15" name="Picture 14" descr="eq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17720"/>
            <a:ext cx="3213887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Run time (all 18 folds, process pool): g training 261 s (95 seed tasks = 19 models x 5 seeds), held-out refits 335 s (54 refits = 3 arms x 18), total 600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All-device RRMS, held-out: starting card 0.1109; C0_refit (g = 0) 0.1051; M_bias 0.0735.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Measured curves, trim and curve RRMS (example pmos_L2_W5)</a:t>
            </a:r>
          </a:p>
        </p:txBody>
      </p:sp>
      <p:pic>
        <p:nvPicPr>
          <p:cNvPr id="3" name="Picture 2" descr="m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863840" cy="3145536"/>
          </a:xfrm>
          <a:prstGeom prst="rect">
            <a:avLst/>
          </a:prstGeom>
        </p:spPr>
      </p:pic>
      <p:pic>
        <p:nvPicPr>
          <p:cNvPr id="4" name="Picture 3" descr="eq_r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5812155" cy="552069"/>
          </a:xfrm>
          <a:prstGeom prst="rect">
            <a:avLst/>
          </a:prstGeom>
        </p:spPr>
      </p:pic>
      <p:pic>
        <p:nvPicPr>
          <p:cNvPr id="5" name="Picture 4" descr="eq_d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7423785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6760" y="868680"/>
            <a:ext cx="3611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Trim: points before the first |I_meas| above the device floor are removed (nMOS floor 0; pMOS floor per geometry, rrmsCalc.py). n_c = points left.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den_c and n_c are computed from the measured curve only.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pmos_L2_W5: 9 of 11 curves scored; not in the inclusion set: idvd@0.37, idvd@0.74.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Device RRMS = mean of the curve RRMS over the frozen inclusion set; a non-finite included curve makes the device RRMS NaN (failed).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(1/4): 43 parameters from a sensitivity screen</a:t>
            </a:r>
          </a:p>
        </p:txBody>
      </p:sp>
      <p:pic>
        <p:nvPicPr>
          <p:cNvPr id="3" name="Picture 2" descr="m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2375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4206240"/>
          <a:ext cx="704088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65760"/>
                <a:gridCol w="42062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mobility, velocity, resistance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vsat ua ub rdsw prwg wr u0 a0 a2 ags b0 b1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output conductance, high field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pclm pdiblc2 drout delta alpha0 beta0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process, geometry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toxe toxm xj ndep nsd dwg rsh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subthreshold, DIBL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voff nfactor cit cdscd eta0 dsub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threshold, short channel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vth0 k1 k2 k3 dvt0 dvt1 dvt1w w0 k3b vfb lpe0 lpeb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35240" y="4160520"/>
            <a:ext cx="44348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Candidates: 115 continuous BSIM4 DC parameters (31 integer selectors, bin bounds, capacitance-only and noise-only parameters excluded before).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Each candidate: +/-10% of its published-card value (family median if the value is 0), one at a time, on all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Response per curve: RMS(I_pert - I_pub) / mean|I_meas|.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Kept if the response is &gt;= 1e-04 on any curve of any device; the 7 paper parameters are always kept.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(2/4): parameter box and box coordinates</a:t>
            </a:r>
          </a:p>
        </p:txBody>
      </p:sp>
      <p:pic>
        <p:nvPicPr>
          <p:cNvPr id="3" name="Picture 2" descr="m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167149"/>
          </a:xfrm>
          <a:prstGeom prst="rect">
            <a:avLst/>
          </a:prstGeom>
        </p:spPr>
      </p:pic>
      <p:pic>
        <p:nvPicPr>
          <p:cNvPr id="4" name="Picture 3" descr="eq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171139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34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c_k round 1: released 77 K value / its multiplier in the 77 K card (multiplier-free stock SkyWater value).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h_k round 1: vth0 ln 3; u0, nfactor, vsat, delta, rdsw, eta0 ln 100; the 36 screened parameters ln 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Rounds 2, 3: c_k = previous round's card. |u_k| &gt;= 0.9: h_k kept (box extends past the old bound); otherwise h_k / 2, minimum ln 1.05.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Fixed (held at c_k): parameters with value 0 on that device (vfb, prwg, a0, b0, b1, lpe0, lpeb on some devices), and parameters whose box width is below the 1e-14 activity test of the box code: ub on all 18 devices (|ub| ~ 1e-18), b1 on 5 devices. Active: 37-40 per device.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(3/4): CMA-ES, then TRF, in NGSpice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6868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02920"/>
                <a:gridCol w="2606040"/>
                <a:gridCol w="1188720"/>
                <a:gridCol w="1600200"/>
                <a:gridCol w="1097280"/>
                <a:gridCol w="82296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Par.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Starts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CMA-ES evals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TRF max_nfev, IRLS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Sim./device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Wall 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 + 4 bank samples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3,283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centre; 7-par. card, others at centre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21,213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1,930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14,287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1,636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8,405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4,657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round-3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17520"/>
            <a:ext cx="11064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Objective for every stage: mean included-curve RRMS of the NGSpice card (frozen inclusion set).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Starts: each start is simulated; CMA-ES runs from the best one. Bank samples: the 4 lowest-RRMS samples of the 7-parameter round-1 NGSpice bank, pairwise RMS distance &gt;= 0.35 in u.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on the active u in [-1, 1]: sigma0 = 0.3, population 4 + floor(3 ln n_active), seed 20261015.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TRF: bounded least squares on the residuals of the refit slide (forward-difference Jacobian, step 0.01 in u), starting from the better of start and CMA-ES; the best card seen in the run is kept.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result below the best start: 18/18 (7 par.), 11/18, 10/18, 9/18 (rounds 1-3).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Example pmos_L8_W5, round 1: box centre 5.0499; 7-par. card 0.1468; CMA-ES best 0.2436; TRF from the 7-par. card 0.1468, 0.1363 (IRLS rounds 1, 2); 12,921 simulations.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(4/4): RRMS and cost per stage</a:t>
            </a:r>
          </a:p>
        </p:txBody>
      </p:sp>
      <p:pic>
        <p:nvPicPr>
          <p:cNvPr id="3" name="Picture 2" descr="m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4486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Starting card = round 3 + FD: all-device 0.1109, combined 0.1049. Sum over the five stages: 47,502 NGSpice simulations per device.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Published-card RRMS: reference_scores.json (strict scorer, same frozen inclusion).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data for g: 18 devices, 25,086 points</a:t>
            </a:r>
          </a:p>
        </p:txBody>
      </p:sp>
      <p:pic>
        <p:nvPicPr>
          <p:cNvPr id="3" name="Picture 2" descr="m_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5213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6177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Record of a device: its starting card simulated once on the measured bias grid; per point (is_pmos, Vgs, Vds, I_card, I_meas, curve, den_c). Kept: included curves, points after the trim.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Per fold: the 17 training devices give 23,350-24,075 points.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Median |ln(I_meas / I_card)|: nMOS 0.029, pMOS 0.065 (points with |I| &lt; 1e-13 A left out of the colour plot only).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g: network and ensemble</a:t>
            </a:r>
          </a:p>
        </p:txBody>
      </p:sp>
      <p:pic>
        <p:nvPicPr>
          <p:cNvPr id="3" name="Picture 2" descr="m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7315200" cy="2798859"/>
          </a:xfrm>
          <a:prstGeom prst="rect">
            <a:avLst/>
          </a:prstGeom>
        </p:spPr>
      </p:pic>
      <p:pic>
        <p:nvPicPr>
          <p:cNvPr id="4" name="Picture 3" descr="eq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80"/>
            <a:ext cx="3024835" cy="292608"/>
          </a:xfrm>
          <a:prstGeom prst="rect">
            <a:avLst/>
          </a:prstGeom>
        </p:spPr>
      </p:pic>
      <p:pic>
        <p:nvPicPr>
          <p:cNvPr id="5" name="Picture 4" descr="eq_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14216"/>
            <a:ext cx="5570524" cy="288950"/>
          </a:xfrm>
          <a:prstGeom prst="rect">
            <a:avLst/>
          </a:prstGeom>
        </p:spPr>
      </p:pic>
      <p:pic>
        <p:nvPicPr>
          <p:cNvPr id="6" name="Picture 5" descr="eq_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12894"/>
            <a:ext cx="6888632" cy="222885"/>
          </a:xfrm>
          <a:prstGeom prst="rect">
            <a:avLst/>
          </a:prstGeom>
        </p:spPr>
      </p:pic>
      <p:pic>
        <p:nvPicPr>
          <p:cNvPr id="7" name="Picture 6" descr="eq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745507"/>
            <a:ext cx="5672937" cy="6291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35240" y="8686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f_s: Linear(3,16), tanh, Linear(16,16), tanh, Linear(16,1). 353 weights per seed, 1765 for 5 seeds.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Last layer initialised to 0, so g = 0 at step 0.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Inputs: no geometry, no current, no curve label. The same g is applied to every curve of a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One g per fold: trained on 17 devices, applied to the held-out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Fold pmos_L2_W5: mu = (0.686, 0.509), sigma = (0.227, 0.318) for the two voltage inputs.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g: loss and optimizer</a:t>
            </a:r>
          </a:p>
        </p:txBody>
      </p:sp>
      <p:pic>
        <p:nvPicPr>
          <p:cNvPr id="3" name="Picture 2" descr="eq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5853303" cy="552069"/>
          </a:xfrm>
          <a:prstGeom prst="rect">
            <a:avLst/>
          </a:prstGeom>
        </p:spPr>
      </p:pic>
      <p:pic>
        <p:nvPicPr>
          <p:cNvPr id="4" name="Picture 3" descr="m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0"/>
            <a:ext cx="7498079" cy="2803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09560" y="1783080"/>
            <a:ext cx="4160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Sum over training devices d, their included curves c and trimmed points p. L2 on the weight matrices only.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I_card fixed (starting cards): no simulation during training.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Full batch, float64, Adam, learning rate 3e-3, 2000 steps; seeds 0-4, torch.manual_seed(s); seeds trained independently.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Fold pmos_L2_W5 (23,955 points): RRMS term 0.1127 at g = 0; 0.0778-0.0798 per seed; 0.0786 for the 5-seed mean 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Std of g across seeds at the training points: median 0.0051, max 0.156.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This trace is a re-run (69 s); max |g - stored fold g| = 1.8e-03.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 of the 18 fold models at the held-out points</a:t>
            </a:r>
          </a:p>
        </p:txBody>
      </p:sp>
      <p:pic>
        <p:nvPicPr>
          <p:cNvPr id="3" name="Picture 2" descr="m_g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3714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Range of g at the held-out scored points: nMOS [-0.074, 0.058], median |g| 0.0135; pMOS [-0.414, 0.245], median |g| 0.0149.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fold model is evaluated only on its own held-out device. Full model (black): trained on all 18 devices; used for the Verilog-A export, not for scores.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of the held-out card with g fixed</a:t>
            </a:r>
          </a:p>
        </p:txBody>
      </p:sp>
      <p:pic>
        <p:nvPicPr>
          <p:cNvPr id="3" name="Picture 2" descr="eq_res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4951476" cy="456057"/>
          </a:xfrm>
          <a:prstGeom prst="rect">
            <a:avLst/>
          </a:prstGeom>
        </p:spPr>
      </p:pic>
      <p:pic>
        <p:nvPicPr>
          <p:cNvPr id="4" name="Picture 3" descr="eq_ir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5856731" cy="438454"/>
          </a:xfrm>
          <a:prstGeom prst="rect">
            <a:avLst/>
          </a:prstGeom>
        </p:spPr>
      </p:pic>
      <p:pic>
        <p:nvPicPr>
          <p:cNvPr id="5" name="Picture 4" descr="m_r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40" y="2103120"/>
            <a:ext cx="11554239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scipy least_squares, method trf, u in [-1, 1] of the round-3 box, start = starting card. Jacobian: forward difference, step 0.01 in u, n_active + 1 simulations. Budget max_nfev = 400: per IRLS round floor(400 / 2 / (n_active + 2)) = 4-5 residual evaluations.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Simulations per device: 127-403, mean 326; 18 s. Kept: best card seen (mean RRMS with g). pmos_L2_W5: 0.0731 -&gt; 0.0716 -&gt; 0.0701.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versus no refit, same fold g</a:t>
            </a:r>
          </a:p>
        </p:txBody>
      </p:sp>
      <p:pic>
        <p:nvPicPr>
          <p:cNvPr id="3" name="Picture 2" descr="m_refi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" y="822960"/>
            <a:ext cx="112014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No refit: starting card x exp(g) 0.0834. Refit with g: 0.0735. Without g: starting card 0.1109, C0_refit 0.1051.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Leave-one-device-out loop over 18 devices</a:t>
            </a:r>
          </a:p>
        </p:txBody>
      </p:sp>
      <p:pic>
        <p:nvPicPr>
          <p:cNvPr id="3" name="Picture 2" descr="m_lo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5852160" cy="4876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91440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Fold k (k = 1 ... 18), device k held out: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1  mu, sigma and g (5 seeds) from the 17 training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2  T1 table from the same 17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3  Three refits of device k from its starting card: g (M_bias), T1 table (T1_inloop), g = 0 (C0_refit). Same refit options.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4  Score each refit card (next slide).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Device k enters none of mu, sigma, g, the T1 table.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Models trained: 18 fold models + 1 full model (all 18 devices, export only) = 19 x 5 seeds = 95 tasks, 261 s. T1 tables 3 s. Refits 54, 335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Recipe pre-registered for the 12-device run (I3-2); applied unchanged to 18 devices.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Scoring and controls: C0_refit, T1_inloop</a:t>
            </a:r>
          </a:p>
        </p:txBody>
      </p:sp>
      <p:pic>
        <p:nvPicPr>
          <p:cNvPr id="3" name="Picture 2" descr="m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6949440" cy="2900635"/>
          </a:xfrm>
          <a:prstGeom prst="rect">
            <a:avLst/>
          </a:prstGeom>
        </p:spPr>
      </p:pic>
      <p:pic>
        <p:nvPicPr>
          <p:cNvPr id="4" name="Picture 3" descr="eq_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1920"/>
            <a:ext cx="6039154" cy="2496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389120"/>
            <a:ext cx="6858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Score: final card simulated in NGSpice on the measured grid, multiplied by exp(g), strict paper RRMS on the frozen inclusion set.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C0_refit: same refit with g = 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T1_inloop: g = one constant per (polarity, curve tag), fitted on the 17 training records with the same loss (Adam, lr 2e-2, 1000 steps); 21 values (20 in the fold of pmos_L0p35_W0p55, the only device with pMOS idvd@0.37 included; that curve gets g = 0). Defined only at the measured bias settings.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914400"/>
          <a:ext cx="47548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32588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Paired ratio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Geo. mean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Lower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[0.660, 0.850]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[0.934, 0.986]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[0.692, 0.875]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23774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Geo. mean = exp(mean over devices of ln(RRMS_a / RRMS_b)). CI: percentile, 10,000 bootstrap resamples of the 18 devices. Lower = devices with RRMS_a &lt; RRMS_b.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Verilog-A element for g in ngspice-41</a:t>
            </a:r>
          </a:p>
        </p:txBody>
      </p:sp>
      <p:pic>
        <p:nvPicPr>
          <p:cNvPr id="3" name="Picture 2" descr="m_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760720" cy="3744468"/>
          </a:xfrm>
          <a:prstGeom prst="rect">
            <a:avLst/>
          </a:prstGeom>
        </p:spPr>
      </p:pic>
      <p:pic>
        <p:nvPicPr>
          <p:cNvPr id="4" name="Picture 3" descr="eq_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92040"/>
            <a:ext cx="3339846" cy="24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868680"/>
            <a:ext cx="589788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Ports (d, g, s, di). The transistor drain is di. Branch d -&gt; di: V(sense) &lt;+ RS * I(sense), RS = 0 (zero-volt source; its current is I_card).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I(d, s) &lt;+ (exp(g) - 1) * I(sense).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g from V(g, s) and V(d, s) through abs(): pMOS bias and reverse-mode bias map onto the forward range. is_pmos is a module parameter.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seed's tanh layers written out; 5 seeds; 209 lines for the full model.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OpenVAF 23.5.0 -&gt; OSDI; ngspice-41 built with --enable-osdi; 'pre_osdi' in .control.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Checks: g of the Verilog-A arithmetic vs Python, 200 random bias points: max |dg| 2.6e-11. Device RRMS, SPICE-native vs NGSpice card x exp(g) in Python: max |d| 1.8e-05 over 18 devices.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Cost per stage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  <a:gridCol w="164592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NGSpice simulations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Wall time (run)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Sensitivity screen, 115 candidates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3,283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291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21,213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1,930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14,287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1,636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8,405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4,657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314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72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Records (starting card on the measured grid)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25,086 points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T1 tables, 18 folds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18 tables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g training, 19 models x 5 seeds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261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19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Held-out refits, 3 arms x 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326 per refit (mean, M_bias)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335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54 cards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3675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Wall time: elapsed time of each run (process pool; the pool size is not stored in the outputs). Simulations: mean per device over 18 devices.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Performance across methods, sky130 77 K measured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777240"/>
          <a:ext cx="11338560" cy="511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463040"/>
                <a:gridCol w="320040"/>
                <a:gridCol w="822960"/>
                <a:gridCol w="822960"/>
                <a:gridCol w="731520"/>
                <a:gridCol w="1691640"/>
                <a:gridCol w="2240280"/>
              </a:tblGrid>
              <a:tr h="196596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Fitted 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NGSpice cost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References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 (Beall et al.), strict scorer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0.2038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0.1905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0.1763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Fixed ML series, July setup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MLP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0.2579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out/pdk_direct_mlp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10k-card bank/device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out/pdk_ml_emu_raw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emu_search+fd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bank + FD; 2420 s run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Cold-start loop, October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polished/pipe_r4_fd (before)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 (a)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pipe_fixed/full_r4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 (CMA-ES + TRF)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3283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ngspice_direct/seven_r1_direct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21213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ngspice_direct/full_r1_direct_seeded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0.1024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14287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ngspice_direct/full_r2_direct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8405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ngspice_direct/full_r3_direct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 + FD (starting card), state C (e)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+314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polished/direct43_r3_fd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This deck: leave-one-device-out, all 18 devices, BSIM4 clamp state C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(refit, per-curve gain table)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+322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 (refit with shared g)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 (c)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I13_1/all18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Pre-registered I3-2 run, 12 devices, training on 11 (d)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card, same 12 devices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+300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+330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>
                <a:solidFill>
                  <a:srgbClr val="202428"/>
                </a:solidFill>
              </a:rPr>
              <a:t>Fixed procedures applied to every device; no per-device choice between methods. Rows with n = 12 compare only with each other.  (a) Re-scored with failed-curve rejection (stored before the fix: 0.1513).  (b) One constant g per (polarity, curve tag), 21 values; defined only at the measured biases.  (c) 43 card parameters per device plus 5 x 353 network weights shared by all devices.  (d) Pre-registered I3-2 run on the 12 former DEV devices.  Cost: NGSpice simulations; '+' = on top of the starting card; direct NGSpice rounds: calls in that round.  (e) Starting card scored with the BSIM4 A2 clamp written into the card (I13-1); the earlier rows are the stored scores (old deck, state L; 5 devices have a2 &gt; 1 in the 43-parameter cards).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held-out RRMS, 18 devices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777240"/>
          <a:ext cx="8823960" cy="527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25880"/>
                <a:gridCol w="1325880"/>
                <a:gridCol w="1325880"/>
                <a:gridCol w="1325880"/>
                <a:gridCol w="1325880"/>
              </a:tblGrid>
              <a:tr h="2395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Starting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nmos_L0p19_W7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nmos_L0p25_W1p6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nmos_L100_W100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0.1599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nmos_L20_W0p64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nmos_L8_W1p6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pmos_L0p35_W0p55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0.7270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0.0582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0.4560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pmos_L0p5_W0p64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0.3498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pmos_L2_W5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pmos_L4_W7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pmos_L8_W0p84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0.4340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0.5433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0.3146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372600" y="9144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* former TEST device (opened 2026-10-21).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Starting card: direct NGSpice 43-parameter fit (round 3 + FD); every refit starts from it.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C0_refit, T1_inloop, M_bias: held-out refit, leave-one-device-out.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M_bias below C0_refit on 17 of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Published-card RRMS: reference_scores.json; reproduced by the deck re-simulation.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BSIM4 A2 clamp: one model state per card (I13-1)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ngspice-41 b4check.c checks each BSIM4 model once per process (static model name) and sets A2 = 1 and A1 = 0 when the size-dependent A2 &gt; 1; b4temp.c rebuilds the size-dependent parameters at every analysis.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The measured-curve deck runs one dc analysis per curve in one process. For a card with a2 &gt; 1 the first curve was simulated with A2 = 1, the other curves with the card a2 (state L, all stored 43-parameter scores before I13-1).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a2 &gt; 1 in every 43-parameter arm on nmos_L0p19_W7 (1.877), nmos_L0p25_W1p6 (1.045), nmos_L20_W0p64 (2.002), nmos_L8_W1p6 (1.062), pmos_L0p35_W1p6 (1.253). Published cards: a2 &lt;= 0.467.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202428"/>
                </a:solidFill>
              </a:rPr>
              <a:t>Fix: the clamp is written into the card (state C: every curve as in a fresh process). All numbers in this deck are state C; refit and training reruns, starting cards not refit.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91840"/>
          <a:ext cx="1097280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108960"/>
                <a:gridCol w="31089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Arm (18 devices)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Old, state L: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New, state C: all / comb / 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New - old (all-device)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0.2751 / 0.2595 / 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Starting card (not refit)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0.1044 / 0.0976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0.1109 / 0.1049 / 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+0.0065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0.1043 / 0.0975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0.1051 / 0.0984 / 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0.0744 / 0.0703 / 0.0672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0.0753 / 0.0713 / 0.0680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0.0732 / 0.0691 / 0.0643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0.0735 / 0.0695 / 0.0637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+0.0003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v2 (symmetric inputs, I12-1)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0.0774 / 0.0732 / 0.0534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0.0772 / 0.0732 / 0.0544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-0.0002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0.755 [0.673, 0.852], 16/18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0.745 [0.660, 0.850], 17/18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GMR 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0.974 [0.945, 1.001], 11/18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0.960 [0.934, 0.986], 14/18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Earlier pre-registered run: 12 devices, training on 11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Same 12 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(2026-10-20, state L), g trained on 11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0.0834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0.0816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 (state C), g trained on 17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0.0759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The I3-2 run was pre-registered on the 12 former DEV devices; the 6 TEST devices were not loaded then.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On 2026-10-21 the user opened the 6 TEST devices. The all-18 run uses the same recipe with 17 training devices per fold.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C0_refit does not depend on the training devices: on the 12 devices the two runs differ only through the BSIM4 clamp state (state L vs C, devices with a2 &gt; 1; max |difference| 7.3e-03).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RRMS, 18 devices (log scale)</a:t>
            </a:r>
          </a:p>
        </p:txBody>
      </p:sp>
      <p:pic>
        <p:nvPicPr>
          <p:cNvPr id="3" name="Picture 2" descr="rrms_pe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44087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Deployment: g as a Verilog-A element in NGSpice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Export: g written as Verilog-A (module i3_2_bias_corr, explicit tanh layers, 5-seed mean). Element between the external drain d and the transistor drain di:  I(d, s) += (exp(g) - 1) x I(d -&gt; di).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Compile: OpenVAF 23.5.0 -&gt; OSDI 0.3. Simulator: ngspice-41 built with --enable-osdi (same source and flags as the canonical build; uncorrected currents bit-identical).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Netlist:  M1 di g s b &lt;card&gt;;  NCORR d g s di corrmodel;  pre_osdi &lt;file&gt;.osdi in .control.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01752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"/>
                <a:gridCol w="2514600"/>
                <a:gridCol w="251460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SPICE-native (Verilog-A)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NGSpice card x exp(g), Python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Max per-device |difference|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All-18 run, 18 fold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0.073483 (0.069534)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0.073476 (0.069528)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1.8e-05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I3-2 run, 12 fold models (F1c, state L)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0.080555 (0.074863)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0.080550 (0.074858)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1.2e-05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Values: all-device RRMS (combined).  Python value on the deck re-simulation vs stored all-18 value: max per-device |difference| 0.0e+00.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I3-2 F1c: SPICE-native and Python currents differ by up to 2.45e-3 relative, at a 2.0e-12 A point (pmos_L0p5_W0p42, Id-Vg at |Vds| = 1.85 V); 0 convergence messages, 0 non-finite currents.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All-18 SPICE-native runs: 0 devices with convergence messages, 0 non-finite scored values.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Learned g, full model trained on all 18 devices</a:t>
            </a:r>
          </a:p>
        </p:txBody>
      </p:sp>
      <p:pic>
        <p:nvPicPr>
          <p:cNvPr id="3" name="Picture 2" descr="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37407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The full model is the one written for deployment; held-out scores use the 18 fold models (each without its device). exp(g) is the factor applied to the card current.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nmos_L0p15_W1p6:  NMOS, L = 0.15 um, W = 1.6 um</a:t>
            </a:r>
          </a:p>
        </p:txBody>
      </p:sp>
      <p:pic>
        <p:nvPicPr>
          <p:cNvPr id="3" name="Picture 2" descr="iv_nmos_L0p1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nmos_L0p19_W7:  NMOS, L = 0.19 um, W = 7 um  (former TEST device)</a:t>
            </a:r>
          </a:p>
        </p:txBody>
      </p:sp>
      <p:pic>
        <p:nvPicPr>
          <p:cNvPr id="3" name="Picture 2" descr="iv_nmos_L0p19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nmos_L0p25_W1p6:  NMOS, L = 0.25 um, W = 1.6 um</a:t>
            </a:r>
          </a:p>
        </p:txBody>
      </p:sp>
      <p:pic>
        <p:nvPicPr>
          <p:cNvPr id="3" name="Picture 2" descr="iv_nmos_L0p2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nmos_L100_W100:  NMOS, L = 100 um, W = 100 um</a:t>
            </a:r>
          </a:p>
        </p:txBody>
      </p:sp>
      <p:pic>
        <p:nvPicPr>
          <p:cNvPr id="3" name="Picture 2" descr="iv_nmos_L100_W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nmos_L1_W1p6:  NMOS, L = 1 um, W = 1.6 um  (former TEST device)</a:t>
            </a:r>
          </a:p>
        </p:txBody>
      </p:sp>
      <p:pic>
        <p:nvPicPr>
          <p:cNvPr id="3" name="Picture 2" descr="iv_nmos_L1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nmos_L1_W3:  NMOS, L = 1 um, W = 3 um</a:t>
            </a:r>
          </a:p>
        </p:txBody>
      </p:sp>
      <p:pic>
        <p:nvPicPr>
          <p:cNvPr id="3" name="Picture 2" descr="iv_nmos_L1_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nmos_L20_W0p64:  NMOS, L = 20 um, W = 0.64 um</a:t>
            </a:r>
          </a:p>
        </p:txBody>
      </p:sp>
      <p:pic>
        <p:nvPicPr>
          <p:cNvPr id="3" name="Picture 2" descr="iv_nmos_L20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nmos_L8_W1p6:  NMOS, L = 8 um, W = 1.6 um  (former TEST device)</a:t>
            </a:r>
          </a:p>
        </p:txBody>
      </p:sp>
      <p:pic>
        <p:nvPicPr>
          <p:cNvPr id="3" name="Picture 2" descr="iv_n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pmos_L0p35_W0p55:  PMOS, L = 0.35 um, W = 0.55 um</a:t>
            </a:r>
          </a:p>
        </p:txBody>
      </p:sp>
      <p:pic>
        <p:nvPicPr>
          <p:cNvPr id="3" name="Picture 2" descr="iv_pmos_L0p35_W0p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pmos_L0p35_W1p6:  PMOS, L = 0.35 um, W = 1.6 um  (former TEST device)</a:t>
            </a:r>
          </a:p>
        </p:txBody>
      </p:sp>
      <p:pic>
        <p:nvPicPr>
          <p:cNvPr id="3" name="Picture 2" descr="iv_pmos_L0p3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pmos_L0p35_W5:  PMOS, L = 0.35 um, W = 5 um</a:t>
            </a:r>
          </a:p>
        </p:txBody>
      </p:sp>
      <p:pic>
        <p:nvPicPr>
          <p:cNvPr id="3" name="Picture 2" descr="iv_pmos_L0p35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pmos_L0p5_W0p42:  PMOS, L = 0.5 um, W = 0.42 um</a:t>
            </a:r>
          </a:p>
        </p:txBody>
      </p:sp>
      <p:pic>
        <p:nvPicPr>
          <p:cNvPr id="3" name="Picture 2" descr="iv_pmos_L0p5_W0p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pmos_L0p5_W0p64:  PMOS, L = 0.5 um, W = 0.64 um  (former TEST device)</a:t>
            </a:r>
          </a:p>
        </p:txBody>
      </p:sp>
      <p:pic>
        <p:nvPicPr>
          <p:cNvPr id="3" name="Picture 2" descr="iv_pmos_L0p5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pmos_L2_W5:  PMOS, L = 2 um, W = 5 um</a:t>
            </a:r>
          </a:p>
        </p:txBody>
      </p:sp>
      <p:pic>
        <p:nvPicPr>
          <p:cNvPr id="3" name="Picture 2" descr="iv_pmos_L2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pmos_L4_W7:  PMOS, L = 4 um, W = 7 um</a:t>
            </a:r>
          </a:p>
        </p:txBody>
      </p:sp>
      <p:pic>
        <p:nvPicPr>
          <p:cNvPr id="3" name="Picture 2" descr="iv_pmos_L4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pmos_L8_W0p84:  PMOS, L = 8 um, W = 0.84 um  (former TEST device)</a:t>
            </a:r>
          </a:p>
        </p:txBody>
      </p:sp>
      <p:pic>
        <p:nvPicPr>
          <p:cNvPr id="3" name="Picture 2" descr="iv_pmos_L8_W0p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pmos_L8_W1p6:  PMOS, L = 8 um, W = 1.6 um</a:t>
            </a:r>
          </a:p>
        </p:txBody>
      </p:sp>
      <p:pic>
        <p:nvPicPr>
          <p:cNvPr id="3" name="Picture 2" descr="iv_p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pmos_L8_W5:  PMOS, L = 8 um, W = 5 um</a:t>
            </a:r>
          </a:p>
        </p:txBody>
      </p:sp>
      <p:pic>
        <p:nvPicPr>
          <p:cNvPr id="3" name="Picture 2" descr="iv_pmos_L8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