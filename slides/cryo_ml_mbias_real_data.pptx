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1">
                <a:solidFill>
                  <a:srgbClr val="202428"/>
                </a:solidFill>
              </a:rPr>
              <a:t>SKY130 at 77 K: 43-parameter card refit with a shared bias-only correction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461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5A6066"/>
                </a:solidFill>
              </a:rPr>
              <a:t>Measured I-V of 18 transistors; held-out device RRMS from NGSpice (leave-one-device-out)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5A6066"/>
                </a:solidFill>
              </a:rPr>
              <a:t>All-device RRMS: released card 0.2751, paper 43 parameters 0.2038, M_bias 0.0732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5A6066"/>
                </a:solidFill>
              </a:rPr>
              <a:t>2026-10-21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02428"/>
                </a:solidFill>
              </a:rPr>
              <a:t>Data and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Devices: SkyWater SKY130 130 nm, measured at 77 K (Beall et al.); 18 transistors, 8 nMOS (nfet_01v8_lvt) and 10 pMOS (pfet_01v8_lvt), L 0.15-100 um, W 0.42-100 um.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Curves per device: 11. Id-Vg at |Vds| = 0.01, 0.37, 0.74, 1.11, 1.48, 1.85 V; Id-Vd at |Vgs| = 0.37, 0.74, 1.11, 1.48, 1.85 V.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Curve RRMS = RMS(I_sim - I_meas) / mean|I_meas| over the trimmed sweep points (paper rrmsCalc.py). Device RRMS = mean over included curves.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Curve inclusion is frozen to the set the released card includes (9-11 curves per device). The upstream dynamic inclusion is not used here.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All-device = mean of the 18 device values. Combined = (mean nMOS + mean pMOS) / 2. Paper numbers below are all-device.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Simulator: ngspice-41 (arm64 build; reproduces the reference scores exactly). Every RRMS on these slides is from an NGSpice simulation.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Reference, 18 devices: released card 0.2751 (combined 0.2595); paper, 7 parameters 0.2284 (0.2135); paper, 43 parameters 0.2038 (0.1905).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202428"/>
                </a:solidFill>
              </a:rPr>
              <a:t>Device split: the 18 devices are the 12 former DEV and 6 former TEST devices. The TEST devices were opened on 2026-10-21 by user decision.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Pipeline: measured I-V to held-out RRMS, 18 folds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914400"/>
            <a:ext cx="3383280" cy="1234440"/>
          </a:xfrm>
          <a:prstGeom prst="roundRect">
            <a:avLst/>
          </a:prstGeom>
          <a:solidFill>
            <a:srgbClr val="F0F4F8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Measured I-V, 77 K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18 devices x 11 curves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9-11 curves scored per device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914400"/>
            <a:ext cx="3383280" cy="1234440"/>
          </a:xfrm>
          <a:prstGeom prst="roundRect">
            <a:avLst/>
          </a:prstGeom>
          <a:solidFill>
            <a:srgbClr val="F0F4F8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Starting cards (43 parameters)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direct NGSpice fit, 5 stages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47,502 simulations per device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66760" y="914400"/>
            <a:ext cx="3383280" cy="1234440"/>
          </a:xfrm>
          <a:prstGeom prst="roundRect">
            <a:avLst/>
          </a:prstGeom>
          <a:solidFill>
            <a:srgbClr val="F0F4F8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Records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starting card simulated once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on the measured grid: 25,086 points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822192" y="1531620"/>
            <a:ext cx="53949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99831" y="1531620"/>
            <a:ext cx="53949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1480" y="2788920"/>
            <a:ext cx="3383280" cy="1234440"/>
          </a:xfrm>
          <a:prstGeom prst="roundRect">
            <a:avLst/>
          </a:prstGeom>
          <a:solidFill>
            <a:srgbClr val="FCECE2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Train g (fold k)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17 devices, 23,350-24,075 points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5 seeds, Python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788920"/>
            <a:ext cx="3383280" cy="1234440"/>
          </a:xfrm>
          <a:prstGeom prst="roundRect">
            <a:avLst/>
          </a:prstGeom>
          <a:solidFill>
            <a:srgbClr val="FCECE2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Refit card of device k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37-40 active of 43 parameters, TRF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g fixed; 134-403 simulations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2788920"/>
            <a:ext cx="3383280" cy="1234440"/>
          </a:xfrm>
          <a:prstGeom prst="roundRect">
            <a:avLst/>
          </a:prstGeom>
          <a:solidFill>
            <a:srgbClr val="FCECE2"/>
          </a:solidFill>
          <a:ln>
            <a:solidFill>
              <a:srgbClr val="7880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02428"/>
                </a:solidFill>
              </a:rPr>
              <a:t>Score device k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NGSpice(final card) x exp(g)</a:t>
            </a:r>
          </a:p>
          <a:p>
            <a:pPr algn="ctr"/>
            <a:r>
              <a:rPr sz="1300" b="0">
                <a:solidFill>
                  <a:srgbClr val="202428"/>
                </a:solidFill>
              </a:rPr>
              <a:t>strict paper RRMS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822192" y="3406139"/>
            <a:ext cx="53949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99831" y="3406139"/>
            <a:ext cx="539496" cy="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103120" y="2148840"/>
            <a:ext cx="7955280" cy="640080"/>
          </a:xfrm>
          <a:prstGeom prst="line">
            <a:avLst/>
          </a:prstGeom>
          <a:ln w="22225">
            <a:solidFill>
              <a:srgbClr val="5A606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11480" y="406908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repeat for k = 1 ... 18 (leave-one-device-out)</a:t>
            </a:r>
          </a:p>
        </p:txBody>
      </p:sp>
      <p:pic>
        <p:nvPicPr>
          <p:cNvPr id="15" name="Picture 14" descr="eq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617720"/>
            <a:ext cx="3213887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21208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Run time (all 18 folds, process pool): g training 330 s (95 seed tasks = 19 models x 5 seeds), held-out refits 191 s (54 refits = 3 arms x 18), total 526 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All-device RRMS, held-out: starting card 0.1044; C0_refit (g = 0) 0.1043; M_bias 0.0732.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Measured curves, trim and curve RRMS (example pmos_L2_W5)</a:t>
            </a:r>
          </a:p>
        </p:txBody>
      </p:sp>
      <p:pic>
        <p:nvPicPr>
          <p:cNvPr id="3" name="Picture 2" descr="m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77240"/>
            <a:ext cx="7863840" cy="3145536"/>
          </a:xfrm>
          <a:prstGeom prst="rect">
            <a:avLst/>
          </a:prstGeom>
        </p:spPr>
      </p:pic>
      <p:pic>
        <p:nvPicPr>
          <p:cNvPr id="4" name="Picture 3" descr="eq_rr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06240"/>
            <a:ext cx="5812155" cy="552069"/>
          </a:xfrm>
          <a:prstGeom prst="rect">
            <a:avLst/>
          </a:prstGeom>
        </p:spPr>
      </p:pic>
      <p:pic>
        <p:nvPicPr>
          <p:cNvPr id="5" name="Picture 4" descr="eq_de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983480"/>
            <a:ext cx="7423785" cy="466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66760" y="868680"/>
            <a:ext cx="3611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Trim: points before the first |I_meas| above the device floor are removed (nMOS floor 0; pMOS floor per geometry, rrmsCalc.py). n_c = points left.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den_c and n_c are computed from the measured curve only.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pmos_L2_W5: 9 of 11 curves scored; not in the inclusion set: idvd@0.37, idvd@0.74.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Device RRMS = mean of the curve RRMS over the frozen inclusion set; a non-finite included curve makes the device RRMS NaN (failed).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(1/4): 43 parameters from a sensitivity screen</a:t>
            </a:r>
          </a:p>
        </p:txBody>
      </p:sp>
      <p:pic>
        <p:nvPicPr>
          <p:cNvPr id="3" name="Picture 2" descr="m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11612880" cy="323753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4206240"/>
          <a:ext cx="704088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65760"/>
                <a:gridCol w="420624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202428"/>
                          </a:solidFill>
                        </a:defRPr>
                      </a:pPr>
                      <a:r>
                        <a:t>Group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202428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202428"/>
                          </a:solidFill>
                        </a:defRPr>
                      </a:pPr>
                      <a:r>
                        <a:t>Parameters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mobility, velocity, resistance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vsat ua ub rdsw prwg wr u0 a0 a2 ags b0 b1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output conductance, high field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pclm pdiblc2 drout delta alpha0 beta0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process, geometry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toxe toxm xj ndep nsd dwg rsh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subthreshold, DIBL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voff nfactor cit cdscd eta0 dsub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threshold, short channel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>
                          <a:solidFill>
                            <a:srgbClr val="202428"/>
                          </a:solidFill>
                        </a:defRPr>
                      </a:pPr>
                      <a:r>
                        <a:t>vth0 k1 k2 k3 dvt0 dvt1 dvt1w w0 k3b vfb lpe0 lpeb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35240" y="4160520"/>
            <a:ext cx="443484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Candidates: 115 continuous BSIM4 DC parameters (31 integer selectors, bin bounds, capacitance-only and noise-only parameters excluded before).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Each candidate: +/-10% of its published-card value (family median if the value is 0), one at a time, on all 18 devices.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Response per curve: RMS(I_pert - I_pub) / mean|I_meas|.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Kept if the response is &gt;= 1e-04 on any curve of any device; the 7 paper parameters are always kept.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(2/4): parameter box and box coordinates</a:t>
            </a:r>
          </a:p>
        </p:txBody>
      </p:sp>
      <p:pic>
        <p:nvPicPr>
          <p:cNvPr id="3" name="Picture 2" descr="m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11612880" cy="3167149"/>
          </a:xfrm>
          <a:prstGeom prst="rect">
            <a:avLst/>
          </a:prstGeom>
        </p:spPr>
      </p:pic>
      <p:pic>
        <p:nvPicPr>
          <p:cNvPr id="4" name="Picture 3" descr="eq_bo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3171139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63440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c_k round 1: released 77 K value / its multiplier in the 77 K card (multiplier-free stock SkyWater value).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h_k round 1: vth0 ln 3; u0, nfactor, vsat, delta, rdsw, eta0 ln 100; the 36 screened parameters ln 3.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Rounds 2, 3: c_k = previous round's card. |u_k| &gt;= 0.9: h_k kept (box extends past the old bound); otherwise h_k / 2, minimum ln 1.05.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Fixed (held at c_k): parameters with value 0 on that device (vfb, prwg, a0, b0, b1, lpe0, lpeb on some devices), and parameters whose box width is below the 1e-14 activity test of the box code: ub on all 18 devices (|ub| ~ 1e-18), b1 on 5 devices. Active: 37-40 per device.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(3/4): CMA-ES, then TRF, in NGSpice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68680"/>
          <a:ext cx="106070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02920"/>
                <a:gridCol w="2606040"/>
                <a:gridCol w="1188720"/>
                <a:gridCol w="1600200"/>
                <a:gridCol w="1097280"/>
                <a:gridCol w="822960"/>
                <a:gridCol w="105156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Run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Par.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Starts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CMA-ES evals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TRF max_nfev, IRLS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Sim./device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Wall 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All-device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7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box centre + 4 bank samples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3,283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291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0.1676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 p., round 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box centre; 7-par. card, others at centre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600, 2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21,213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1,930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0.1201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 p., round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previous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600, 2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14,287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1,636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0.1094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 p., round 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previous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8000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600, 2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8,405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4,657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round 3 + FD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round-3 card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400, 2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314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0.1044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017520"/>
            <a:ext cx="11064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Objective for every stage: mean included-curve RRMS of the NGSpice card (frozen inclusion set).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Starts: each start is simulated; CMA-ES runs from the best one. Bank samples: the 4 lowest-RRMS samples of the 7-parameter round-1 NGSpice bank, pairwise RMS distance &gt;= 0.35 in u.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CMA-ES on the active u in [-1, 1]: sigma0 = 0.3, population 4 + floor(3 ln n_active), seed 20261015.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TRF: bounded least squares on the residuals of the refit slide (forward-difference Jacobian, step 0.01 in u), starting from the better of start and CMA-ES; the best card seen in the run is kept.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CMA-ES result below the best start: 18/18 (7 par.), 11/18, 10/18, 9/18 (rounds 1-3).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Example pmos_L8_W5, round 1: box centre 5.0499; 7-par. card 0.1468; CMA-ES best 0.2436; TRF from the 7-par. card 0.1468, 0.1363 (IRLS rounds 1, 2); 12,921 simulations.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Starting cards (4/4): RRMS and cost per stage</a:t>
            </a:r>
          </a:p>
        </p:txBody>
      </p:sp>
      <p:pic>
        <p:nvPicPr>
          <p:cNvPr id="3" name="Picture 2" descr="m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344867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Starting card = round 3 + FD: all-device 0.1044, combined 0.0976. Sum over the five stages: 47,502 NGSpice simulations per device.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Published-card RRMS: reference_scores.json (strict scorer, same frozen inclusion).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Training data for g: 18 devices, 25,086 points</a:t>
            </a:r>
          </a:p>
        </p:txBody>
      </p:sp>
      <p:pic>
        <p:nvPicPr>
          <p:cNvPr id="3" name="Picture 2" descr="m_rec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35213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61772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Record of a device: its starting card simulated once on the measured bias grid; per point (is_pmos, Vgs, Vds, I_card, I_meas, curve, den_c). Kept: included curves, points after the trim.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Per fold: the 17 training devices give 23,350-24,075 points.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Median |ln(I_meas / I_card)|: nMOS 0.016, pMOS 0.065 (points with |I| &lt; 1e-13 A left out of the colour plot only).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g: network and ensemble</a:t>
            </a:r>
          </a:p>
        </p:txBody>
      </p:sp>
      <p:pic>
        <p:nvPicPr>
          <p:cNvPr id="3" name="Picture 2" descr="m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731520"/>
            <a:ext cx="7315200" cy="2798859"/>
          </a:xfrm>
          <a:prstGeom prst="rect">
            <a:avLst/>
          </a:prstGeom>
        </p:spPr>
      </p:pic>
      <p:pic>
        <p:nvPicPr>
          <p:cNvPr id="4" name="Picture 3" descr="eq_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11880"/>
            <a:ext cx="3024835" cy="292608"/>
          </a:xfrm>
          <a:prstGeom prst="rect">
            <a:avLst/>
          </a:prstGeom>
        </p:spPr>
      </p:pic>
      <p:pic>
        <p:nvPicPr>
          <p:cNvPr id="5" name="Picture 4" descr="eq_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014216"/>
            <a:ext cx="5570524" cy="288950"/>
          </a:xfrm>
          <a:prstGeom prst="rect">
            <a:avLst/>
          </a:prstGeom>
        </p:spPr>
      </p:pic>
      <p:pic>
        <p:nvPicPr>
          <p:cNvPr id="6" name="Picture 5" descr="eq_z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412894"/>
            <a:ext cx="6888632" cy="222885"/>
          </a:xfrm>
          <a:prstGeom prst="rect">
            <a:avLst/>
          </a:prstGeom>
        </p:spPr>
      </p:pic>
      <p:pic>
        <p:nvPicPr>
          <p:cNvPr id="7" name="Picture 6" descr="eq_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745507"/>
            <a:ext cx="5672937" cy="62910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35240" y="868680"/>
            <a:ext cx="4434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f_s: Linear(3,16), tanh, Linear(16,16), tanh, Linear(16,1). 353 weights per seed, 1765 for 5 seeds.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Last layer initialised to 0, so g = 0 at step 0.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Inputs: no geometry, no current, no curve label. The same g is applied to every curve of a device.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One g per fold: trained on 17 devices, applied to the held-out device.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Fold pmos_L2_W5: mu = (0.686, 0.509), sigma = (0.227, 0.318) for the two voltage inputs.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Training g: loss and optimizer</a:t>
            </a:r>
          </a:p>
        </p:txBody>
      </p:sp>
      <p:pic>
        <p:nvPicPr>
          <p:cNvPr id="3" name="Picture 2" descr="eq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5853303" cy="552069"/>
          </a:xfrm>
          <a:prstGeom prst="rect">
            <a:avLst/>
          </a:prstGeom>
        </p:spPr>
      </p:pic>
      <p:pic>
        <p:nvPicPr>
          <p:cNvPr id="4" name="Picture 3" descr="m_trai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828800"/>
            <a:ext cx="7498079" cy="28036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09560" y="1783080"/>
            <a:ext cx="41605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Sum over training devices d, their included curves c and trimmed points p. L2 on the weight matrices only.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I_card fixed (starting cards): no simulation during training.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Full batch, float64, Adam, learning rate 3e-3, 2000 steps; seeds 0-4, torch.manual_seed(s); seeds trained independently.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Fold pmos_L2_W5 (23,955 points): RRMS term 0.1058 at g = 0; 0.0731-0.0748 per seed; 0.0735 for the 5-seed mean g.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Std of g across seeds at the training points: median 0.0052, max 0.080.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This trace is a re-run (108 s); max |g - stored fold g| = 1.2e-03.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g of the 18 fold models at the held-out points</a:t>
            </a:r>
          </a:p>
        </p:txBody>
      </p:sp>
      <p:pic>
        <p:nvPicPr>
          <p:cNvPr id="3" name="Picture 2" descr="m_g_fo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22960"/>
            <a:ext cx="11612880" cy="33714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70916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Range of g at the held-out scored points: nMOS [-0.071, 0.038], median |g| 0.0042; pMOS [-0.400, 0.236], median |g| 0.0153.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Each fold model is evaluated only on its own held-out device. Full model (black): trained on all 18 devices; used for the Verilog-A export, not for scores.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Refit of the held-out card with g fixed</a:t>
            </a:r>
          </a:p>
        </p:txBody>
      </p:sp>
      <p:pic>
        <p:nvPicPr>
          <p:cNvPr id="3" name="Picture 2" descr="eq_res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8680"/>
            <a:ext cx="4951476" cy="456057"/>
          </a:xfrm>
          <a:prstGeom prst="rect">
            <a:avLst/>
          </a:prstGeom>
        </p:spPr>
      </p:pic>
      <p:pic>
        <p:nvPicPr>
          <p:cNvPr id="4" name="Picture 3" descr="eq_ir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00200"/>
            <a:ext cx="5856731" cy="438454"/>
          </a:xfrm>
          <a:prstGeom prst="rect">
            <a:avLst/>
          </a:prstGeom>
        </p:spPr>
      </p:pic>
      <p:pic>
        <p:nvPicPr>
          <p:cNvPr id="5" name="Picture 4" descr="m_r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640" y="2103120"/>
            <a:ext cx="11554239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77840"/>
            <a:ext cx="11064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scipy least_squares, method trf, u in [-1, 1] of the round-3 box, start = starting card. Jacobian: forward difference, step 0.01 in u, n_active + 1 simulations. Budget max_nfev = 400: per IRLS round floor(400 / 2 / (n_active + 2)) = 4-5 residual evaluations.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Simulations per device: 134-403, mean 317; 21 s. Kept: best card seen (mean RRMS with g). pmos_L2_W5: 0.0732 -&gt; 0.0720 -&gt; 0.0707.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Refit versus no refit, same fold g</a:t>
            </a:r>
          </a:p>
        </p:txBody>
      </p:sp>
      <p:pic>
        <p:nvPicPr>
          <p:cNvPr id="3" name="Picture 2" descr="m_refi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59" y="822960"/>
            <a:ext cx="11201400" cy="4480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4406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No refit: starting card x exp(g) 0.0775. Refit with g: 0.0732. Without g: starting card 0.1044, C0_refit 0.1043.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Leave-one-device-out loop over 18 devices</a:t>
            </a:r>
          </a:p>
        </p:txBody>
      </p:sp>
      <p:pic>
        <p:nvPicPr>
          <p:cNvPr id="3" name="Picture 2" descr="m_lo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5852160" cy="4876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309360" y="914400"/>
            <a:ext cx="576072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Fold k (k = 1 ... 18), device k held out: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1  mu, sigma and g (5 seeds) from the 17 training records.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2  T1 table from the same 17 records.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3  Three refits of device k from its starting card: g (M_bias), T1 table (T1_inloop), g = 0 (C0_refit). Same refit options.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4  Score each refit card (next slide).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Device k enters none of mu, sigma, g, the T1 table.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Models trained: 18 fold models + 1 full model (all 18 devices, export only) = 19 x 5 seeds = 95 tasks, 330 s. T1 tables 4 s. Refits 54, 191 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Recipe pre-registered for the 12-device run (I3-2); applied unchanged to 18 devices.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Scoring and controls: C0_refit, T1_inloop</a:t>
            </a:r>
          </a:p>
        </p:txBody>
      </p:sp>
      <p:pic>
        <p:nvPicPr>
          <p:cNvPr id="3" name="Picture 2" descr="m_contr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77240"/>
            <a:ext cx="6949440" cy="2900635"/>
          </a:xfrm>
          <a:prstGeom prst="rect">
            <a:avLst/>
          </a:prstGeom>
        </p:spPr>
      </p:pic>
      <p:pic>
        <p:nvPicPr>
          <p:cNvPr id="4" name="Picture 3" descr="eq_t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31920"/>
            <a:ext cx="6039154" cy="2496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389120"/>
            <a:ext cx="6858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Score: final card simulated in NGSpice on the measured grid, multiplied by exp(g), strict paper RRMS on the frozen inclusion set.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C0_refit: same refit with g = 0.</a:t>
            </a:r>
          </a:p>
          <a:p>
            <a:pPr>
              <a:spcAft>
                <a:spcPts val="400"/>
              </a:spcAft>
            </a:pPr>
            <a:r>
              <a:rPr sz="1250">
                <a:solidFill>
                  <a:srgbClr val="202428"/>
                </a:solidFill>
              </a:rPr>
              <a:t>T1_inloop: g = one constant per (polarity, curve tag), fitted on the 17 training records with the same loss (Adam, lr 2e-2, 1000 steps); 21 values (20 in the fold of pmos_L0p35_W0p55, the only device with pMOS idvd@0.37 included; that curve gets g = 0). Defined only at the measured bias settings.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60920" y="914400"/>
          <a:ext cx="475488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325880"/>
                <a:gridCol w="594360"/>
              </a:tblGrid>
              <a:tr h="329184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Paired ratio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Geo. mean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95% CI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202428"/>
                          </a:solidFill>
                        </a:defRPr>
                      </a:pPr>
                      <a:r>
                        <a:t>Lower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 / 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0.755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[0.673, 0.852]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16/18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M_bias / T1_inloop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0.974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[0.945, 1.001]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11/18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T1_inloop / 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0.775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[0.695, 0.865]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50">
                          <a:solidFill>
                            <a:srgbClr val="202428"/>
                          </a:solidFill>
                        </a:defRPr>
                      </a:pPr>
                      <a:r>
                        <a:t>16/18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237744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Geo. mean = exp(mean over devices of ln(RRMS_a / RRMS_b)). CI: percentile, 10,000 bootstrap resamples of the 18 devices. Lower = devices with RRMS_a &lt; RRMS_b.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Verilog-A element for g in ngspice-41</a:t>
            </a:r>
          </a:p>
        </p:txBody>
      </p:sp>
      <p:pic>
        <p:nvPicPr>
          <p:cNvPr id="3" name="Picture 2" descr="m_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777240"/>
            <a:ext cx="5760720" cy="3744468"/>
          </a:xfrm>
          <a:prstGeom prst="rect">
            <a:avLst/>
          </a:prstGeom>
        </p:spPr>
      </p:pic>
      <p:pic>
        <p:nvPicPr>
          <p:cNvPr id="4" name="Picture 3" descr="eq_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892040"/>
            <a:ext cx="3339846" cy="2434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72200" y="868680"/>
            <a:ext cx="5897880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Ports (d, g, s, di). The transistor drain is di. Branch d -&gt; di: V(sense) &lt;+ RS * I(sense), RS = 0 (zero-volt source; its current is I_card).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I(d, s) &lt;+ (exp(g) - 1) * I(sense).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g from V(g, s) and V(d, s) through abs(): pMOS bias and reverse-mode bias map onto the forward range. is_pmos is a module parameter.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Each seed's tanh layers written out; 5 seeds; 209 lines for the full model.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OpenVAF 23.5.0 -&gt; OSDI; ngspice-41 built with --enable-osdi; 'pre_osdi' in .control.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Checks: g of the Verilog-A arithmetic vs Python, 200 random bias points: max |dg| 2.4e-11. Device RRMS, SPICE-native vs NGSpice card x exp(g) in Python: max |d| 1.7e-05 over 18 devices.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Cost per stage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914400"/>
          <a:ext cx="1097280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743200"/>
                <a:gridCol w="1645920"/>
                <a:gridCol w="237744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Stage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NGSpice simulations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Wall time (run)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Sensitivity screen, 115 candidates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256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43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7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3,283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291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0.1676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43 p., round 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21,213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1,930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0.1201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43 p., round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14,287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1,636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0.1094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43 p., round 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8,405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4,657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Starting cards: round 3 + FD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314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72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all-device 0.1044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Records (starting card on the measured grid)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 per 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25,086 points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T1 tables, 18 folds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4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18 tables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g training, 19 models x 5 seeds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330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19 models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Held-out refits, 3 arms x 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317 per refit (mean, M_bias)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191 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54 cards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36752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Wall time: elapsed time of each run (process pool; the pool size is not stored in the outputs). Simulations: mean per device over 18 devices.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Performance across methods, sky130 77 K measured data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" y="777240"/>
          <a:ext cx="11338560" cy="5111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20"/>
                <a:gridCol w="1463040"/>
                <a:gridCol w="320040"/>
                <a:gridCol w="822960"/>
                <a:gridCol w="822960"/>
                <a:gridCol w="731520"/>
                <a:gridCol w="1691640"/>
                <a:gridCol w="2240280"/>
              </a:tblGrid>
              <a:tr h="196596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Method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Fitted parameters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All-device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Median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NGSpice cost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02428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References (18 devices)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Published 77 K card (Beall et al.), strict scorer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published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0.2751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reference_scores.json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Paper, 7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0.2284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0.2135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0.2027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reference_scores.json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Paper, 43 parameters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0.2038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0.1905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0.1763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reference_scores.json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Fixed ML series, July setup (18 devices)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MLP forward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0.2723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0.2579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0.2363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 forward pass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out/pdk_direct_mlp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emu_search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0.2357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0.2204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0.2072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10k-card bank/device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out/pdk_ml_emu_raw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emu_search+fd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0.2290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0.2140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0.2066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bank + FD; 2420 s run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out/pdk_ml_emu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Cold-start loop, October (18 devices)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Cold paper pipeline, round 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0.1697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0.1602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0.1585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40k bank sims/device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polished/pipe_r4_fd (before)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Cold paper pipeline, round 4 (a)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0.1522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0.1437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0.1173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40k bank sims/device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pipe_fixed/full_r4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 (CMA-ES + TRF)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0.1676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0.1575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0.1460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3283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ngspice_direct/seven_r1_direct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NGSpice, round 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0.1201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0.1126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0.1071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21213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ngspice_direct/full_r1_direct_seeded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NGSpice, round 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0.1024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14287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ngspice_direct/full_r2_direct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NGSpice, round 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0.0981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0.0853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8405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ngspice_direct/full_r3_direct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Direct NGSpice, round 3 + FD (starting card)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0.1044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0.0976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+314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polished/direct43_r3_fd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This deck: leave-one-device-out, all 18 devices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C0_refit (refit, g = 0)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0.0975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+315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I3_2/all18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T1_inloop (refit, per-curve gain table) (b)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 + table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0.0744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+317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I3_2/all18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M_bias (refit with shared g)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 + 1765 shared (c)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+317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I3_2/all18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 gridSpan="8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  <a:r>
                        <a:t>Pre-registered I3-2 run, 12 devices, training on 11 (d)</a:t>
                      </a: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>
                        <a:defRPr sz="900" b="1" i="1">
                          <a:solidFill>
                            <a:srgbClr val="202428"/>
                          </a:solidFill>
                        </a:defRPr>
                      </a:pPr>
                    </a:p>
                  </a:txBody>
                  <a:tcPr marL="45720" marR="45720" marT="9144" marB="9144">
                    <a:solidFill>
                      <a:srgbClr val="F6F7F8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Published 77 K card, same 12 devices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published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0.2848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0.2608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reference_scores.json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0.1072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0.0981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+300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I3_2/real_dev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T1_inloop (b)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 + table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0.0650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+330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I3_2/real_dev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M_bias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43 + 1765 shared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0.0806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0.0749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0.0605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+326 calls/device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solidFill>
                            <a:srgbClr val="202428"/>
                          </a:solidFill>
                        </a:defRPr>
                      </a:pPr>
                      <a:r>
                        <a:t>I3_2/real_dev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989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>
                <a:solidFill>
                  <a:srgbClr val="202428"/>
                </a:solidFill>
              </a:rPr>
              <a:t>Fixed procedures applied to every device; no per-device choice between methods. Rows with n = 12 compare only with each other.  (a) Re-scored with failed-curve rejection (stored before the fix: 0.1513).  (b) One constant g per (polarity, curve tag), 21 values; defined only at the measured biases.  (c) 43 card parameters per device plus 5 x 353 network weights shared by all devices.  (d) Pre-registered I3-2 run on the 12 former DEV devices.  Cost: NGSpice simulations; '+' = on top of the starting card; direct NGSpice rounds: calls in that round.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Per-device held-out RRMS, 18 devices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777240"/>
          <a:ext cx="8823960" cy="5270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325880"/>
                <a:gridCol w="1325880"/>
                <a:gridCol w="1325880"/>
                <a:gridCol w="1325880"/>
                <a:gridCol w="1325880"/>
              </a:tblGrid>
              <a:tr h="239572"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Device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Published card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Starting card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T1_inloop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 b="1">
                          <a:solidFill>
                            <a:srgbClr val="202428"/>
                          </a:solidFill>
                        </a:defRPr>
                      </a:pPr>
                      <a:r>
                        <a:t>M_bias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nmos_L0p15_W1p6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0.0226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nmos_L0p19_W7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0.0967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0.0155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0.0153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nmos_L0p25_W1p6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0.0188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0.0188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0.0171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nmos_L100_W100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0.1403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0.0678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nmos_L1_W1p6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0.1283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0.0331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0.0331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0.0269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nmos_L1_W3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0.1599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0.0561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0.0506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0.0487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nmos_L20_W0p64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0.1283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0.0489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0.0415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nmos_L8_W1p6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0.1474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0.0257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0.0255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0.0194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0.0187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pmos_L0p35_W0p55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0.7270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0.4090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0.4089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0.3255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0.3315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pmos_L0p35_W1p6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0.3776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0.1876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0.1876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pmos_L0p35_W5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0.3291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0.1122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0.1122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0.0666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pmos_L0p5_W0p42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0.4560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0.1617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0.1615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0.0919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0.0966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pmos_L0p5_W0p64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0.3498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0.1943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0.1942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0.1136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pmos_L2_W5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0.1907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0.0796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0.0796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0.0707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pmos_L4_W7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0.2702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0.0844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0.0763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0.0744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pmos_L8_W0p84 *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0.4340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0.1352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0.1352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0.0752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0.0721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pmos_L8_W1p6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0.5433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0.1321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0.0778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pmos_L8_W5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0.3146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0.0914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0.0537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All-device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0.2751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0.1044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0.1043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0.0744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0.0732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Combined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0.2595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0.0976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0.0975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0.0703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0.0691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Median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0.2304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0.0823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50">
                          <a:solidFill>
                            <a:srgbClr val="202428"/>
                          </a:solidFill>
                        </a:defRPr>
                      </a:pPr>
                      <a:r>
                        <a:t>0.0643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372600" y="914400"/>
            <a:ext cx="2697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* former TEST device (opened 2026-10-21).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Starting card: direct NGSpice 43-parameter fit (round 3 + FD); every refit starts from it.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C0_refit, T1_inloop, M_bias: held-out refit, leave-one-device-out.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M_bias below C0_refit on 16 of 18 devices.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202428"/>
                </a:solidFill>
              </a:rPr>
              <a:t>Published-card RRMS: reference_scores.json; reproduced by the deck re-simulation.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Earlier pre-registered run: 12 devices, training on 11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0698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Same 12 devices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Published card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C0_refit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T1_inloop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202428"/>
                          </a:solidFill>
                        </a:defRPr>
                      </a:pPr>
                      <a:r>
                        <a:t>M_bias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I3-2 run (2026-10-20), g trained on 11 devices, all-device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0.2848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0.1072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0.0820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0.0806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I3-2 run (2026-10-20), g trained on 11 devices, combined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0.2608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0.0981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0.0760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0.0749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All-18 run, g trained on 17 devices, all-device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0.2848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0.1072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0.0822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0.0803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All-18 run, g trained on 17 devices, combined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0.2608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0.0981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0.0761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300">
                          <a:solidFill>
                            <a:srgbClr val="202428"/>
                          </a:solidFill>
                        </a:defRPr>
                      </a:pPr>
                      <a:r>
                        <a:t>0.0745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29184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The I3-2 run was pre-registered on the 12 former DEV devices; the 6 TEST devices were not loaded then.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On 2026-10-21 the user opened the 6 TEST devices. The all-18 run uses the same recipe with 17 training devices per fold.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C0_refit does not depend on the training devices: on the 12 devices the two runs give the same values (max |difference| 0.0e+00).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Per-device RRMS, 18 devices (log scale)</a:t>
            </a:r>
          </a:p>
        </p:txBody>
      </p:sp>
      <p:pic>
        <p:nvPicPr>
          <p:cNvPr id="3" name="Picture 2" descr="rrms_per_de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11430000" cy="440871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Deployment: g as a Verilog-A element in NGSpice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Export: g written as Verilog-A (module i3_2_bias_corr, explicit tanh layers, 5-seed mean). Element between the external drain d and the transistor drain di:  I(d, s) += (exp(g) - 1) x I(d -&gt; di).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Compile: OpenVAF 23.5.0 -&gt; OSDI 0.3. Simulator: ngspice-41 built with --enable-osdi (same source and flags as the canonical build; uncorrected currents bit-identical).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202428"/>
                </a:solidFill>
              </a:rPr>
              <a:t>Netlist:  M1 di g s b &lt;card&gt;;  NCORR d g s di corrmodel;  pre_osdi &lt;file&gt;.osdi in .control.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017520"/>
          <a:ext cx="1088136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822960"/>
                <a:gridCol w="2514600"/>
                <a:gridCol w="2514600"/>
                <a:gridCol w="210312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Run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Devices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SPICE-native (Verilog-A)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NGSpice card x exp(g), Python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00" b="1">
                          <a:solidFill>
                            <a:srgbClr val="202428"/>
                          </a:solidFill>
                        </a:defRPr>
                      </a:pPr>
                      <a:r>
                        <a:t>Max per-device |difference|</a:t>
                      </a:r>
                    </a:p>
                  </a:txBody>
                  <a:tcPr marL="45720" marR="45720" marT="9144" marB="9144">
                    <a:solidFill>
                      <a:srgbClr val="E8EC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All-18 run, 18 fold models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0.073171 (0.069117)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0.073163 (0.069110)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1.7e-05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I3-2 run, 12 fold models (F1c)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0.080555 (0.074863)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0.080550 (0.074858)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200">
                          <a:solidFill>
                            <a:srgbClr val="202428"/>
                          </a:solidFill>
                        </a:defRPr>
                      </a:pPr>
                      <a:r>
                        <a:t>1.2e-05</a:t>
                      </a:r>
                    </a:p>
                  </a:txBody>
                  <a:tcPr marL="45720" marR="45720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434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Values: all-device RRMS (combined).  Python value on the deck re-simulation vs stored all-18 value: max per-device |difference| 0.0e+00.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I3-2 F1c: SPICE-native and Python currents differ by up to 2.45e-3 relative, at a 2.0e-12 A point (pmos_L0p5_W0p42, Id-Vg at |Vds| = 1.85 V); 0 convergence messages, 0 non-finite currents.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202428"/>
                </a:solidFill>
              </a:rPr>
              <a:t>All-18 SPICE-native runs: 0 devices with convergence messages, 0 non-finite scored values.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428"/>
                </a:solidFill>
              </a:rPr>
              <a:t>Learned g, full model trained on all 18 devices</a:t>
            </a:r>
          </a:p>
        </p:txBody>
      </p:sp>
      <p:pic>
        <p:nvPicPr>
          <p:cNvPr id="3" name="Picture 2" descr="g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11430000" cy="374072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202428"/>
                </a:solidFill>
              </a:rPr>
              <a:t>The full model is the one written for deployment; held-out scores use the 18 fold models (each without its device). exp(g) is the factor applied to the card current.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nmos_L0p15_W1p6:  NMOS, L = 0.15 um, W = 1.6 um</a:t>
            </a:r>
          </a:p>
        </p:txBody>
      </p:sp>
      <p:pic>
        <p:nvPicPr>
          <p:cNvPr id="3" name="Picture 2" descr="iv_nmos_L0p15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nmos_L0p19_W7:  NMOS, L = 0.19 um, W = 7 um  (former TEST device)</a:t>
            </a:r>
          </a:p>
        </p:txBody>
      </p:sp>
      <p:pic>
        <p:nvPicPr>
          <p:cNvPr id="3" name="Picture 2" descr="iv_nmos_L0p19_W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nmos_L0p25_W1p6:  NMOS, L = 0.25 um, W = 1.6 um</a:t>
            </a:r>
          </a:p>
        </p:txBody>
      </p:sp>
      <p:pic>
        <p:nvPicPr>
          <p:cNvPr id="3" name="Picture 2" descr="iv_nmos_L0p25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nmos_L100_W100:  NMOS, L = 100 um, W = 100 um</a:t>
            </a:r>
          </a:p>
        </p:txBody>
      </p:sp>
      <p:pic>
        <p:nvPicPr>
          <p:cNvPr id="3" name="Picture 2" descr="iv_nmos_L100_W1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nmos_L1_W1p6:  NMOS, L = 1 um, W = 1.6 um  (former TEST device)</a:t>
            </a:r>
          </a:p>
        </p:txBody>
      </p:sp>
      <p:pic>
        <p:nvPicPr>
          <p:cNvPr id="3" name="Picture 2" descr="iv_nmos_L1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nmos_L1_W3:  NMOS, L = 1 um, W = 3 um</a:t>
            </a:r>
          </a:p>
        </p:txBody>
      </p:sp>
      <p:pic>
        <p:nvPicPr>
          <p:cNvPr id="3" name="Picture 2" descr="iv_nmos_L1_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nmos_L20_W0p64:  NMOS, L = 20 um, W = 0.64 um</a:t>
            </a:r>
          </a:p>
        </p:txBody>
      </p:sp>
      <p:pic>
        <p:nvPicPr>
          <p:cNvPr id="3" name="Picture 2" descr="iv_nmos_L20_W0p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nmos_L8_W1p6:  NMOS, L = 8 um, W = 1.6 um  (former TEST device)</a:t>
            </a:r>
          </a:p>
        </p:txBody>
      </p:sp>
      <p:pic>
        <p:nvPicPr>
          <p:cNvPr id="3" name="Picture 2" descr="iv_nmos_L8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pmos_L0p35_W0p55:  PMOS, L = 0.35 um, W = 0.55 um</a:t>
            </a:r>
          </a:p>
        </p:txBody>
      </p:sp>
      <p:pic>
        <p:nvPicPr>
          <p:cNvPr id="3" name="Picture 2" descr="iv_pmos_L0p35_W0p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pmos_L0p35_W1p6:  PMOS, L = 0.35 um, W = 1.6 um  (former TEST device)</a:t>
            </a:r>
          </a:p>
        </p:txBody>
      </p:sp>
      <p:pic>
        <p:nvPicPr>
          <p:cNvPr id="3" name="Picture 2" descr="iv_pmos_L0p35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pmos_L0p35_W5:  PMOS, L = 0.35 um, W = 5 um</a:t>
            </a:r>
          </a:p>
        </p:txBody>
      </p:sp>
      <p:pic>
        <p:nvPicPr>
          <p:cNvPr id="3" name="Picture 2" descr="iv_pmos_L0p35_W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pmos_L0p5_W0p42:  PMOS, L = 0.5 um, W = 0.42 um</a:t>
            </a:r>
          </a:p>
        </p:txBody>
      </p:sp>
      <p:pic>
        <p:nvPicPr>
          <p:cNvPr id="3" name="Picture 2" descr="iv_pmos_L0p5_W0p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pmos_L0p5_W0p64:  PMOS, L = 0.5 um, W = 0.64 um  (former TEST device)</a:t>
            </a:r>
          </a:p>
        </p:txBody>
      </p:sp>
      <p:pic>
        <p:nvPicPr>
          <p:cNvPr id="3" name="Picture 2" descr="iv_pmos_L0p5_W0p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pmos_L2_W5:  PMOS, L = 2 um, W = 5 um</a:t>
            </a:r>
          </a:p>
        </p:txBody>
      </p:sp>
      <p:pic>
        <p:nvPicPr>
          <p:cNvPr id="3" name="Picture 2" descr="iv_pmos_L2_W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pmos_L4_W7:  PMOS, L = 4 um, W = 7 um</a:t>
            </a:r>
          </a:p>
        </p:txBody>
      </p:sp>
      <p:pic>
        <p:nvPicPr>
          <p:cNvPr id="3" name="Picture 2" descr="iv_pmos_L4_W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pmos_L8_W0p84:  PMOS, L = 8 um, W = 0.84 um  (former TEST device)</a:t>
            </a:r>
          </a:p>
        </p:txBody>
      </p:sp>
      <p:pic>
        <p:nvPicPr>
          <p:cNvPr id="3" name="Picture 2" descr="iv_pmos_L8_W0p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pmos_L8_W1p6:  PMOS, L = 8 um, W = 1.6 um</a:t>
            </a:r>
          </a:p>
        </p:txBody>
      </p:sp>
      <p:pic>
        <p:nvPicPr>
          <p:cNvPr id="3" name="Picture 2" descr="iv_pmos_L8_W1p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202428"/>
                </a:solidFill>
              </a:rPr>
              <a:t>pmos_L8_W5:  PMOS, L = 8 um, W = 5 um</a:t>
            </a:r>
          </a:p>
        </p:txBody>
      </p:sp>
      <p:pic>
        <p:nvPicPr>
          <p:cNvPr id="3" name="Picture 2" descr="iv_pmos_L8_W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0"/>
            <a:ext cx="11430000" cy="38792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02428"/>
                </a:solidFill>
              </a:rPr>
              <a:t>Points: measured. Lines: NGSpice (ngspice-41). M_bias line: refit card with the fold Verilog-A g in the netlist (OSDI), g trained without this device. Faded: curves outside the frozen inclusion set (not scored). RRMS: strict paper metric for this device.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